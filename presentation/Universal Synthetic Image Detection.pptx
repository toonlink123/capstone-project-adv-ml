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8" r:id="rId3"/>
    <p:sldId id="260" r:id="rId4"/>
    <p:sldId id="261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6422AA-6E6C-45F0-92E2-1ED45BA6814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657433B-719F-4EFA-B8F7-6F681C70700F}">
      <dgm:prSet/>
      <dgm:spPr/>
      <dgm:t>
        <a:bodyPr/>
        <a:lstStyle/>
        <a:p>
          <a:r>
            <a:rPr lang="en-US"/>
            <a:t>- Generative models produce photorealistic fakes indistinguishable from real photos</a:t>
          </a:r>
        </a:p>
      </dgm:t>
    </dgm:pt>
    <dgm:pt modelId="{5164AC0B-35E0-4F2A-947F-E8C88C4EF6AB}" type="parTrans" cxnId="{26222A38-EDD5-4CFB-BB81-FF57A8C498B5}">
      <dgm:prSet/>
      <dgm:spPr/>
      <dgm:t>
        <a:bodyPr/>
        <a:lstStyle/>
        <a:p>
          <a:endParaRPr lang="en-US"/>
        </a:p>
      </dgm:t>
    </dgm:pt>
    <dgm:pt modelId="{9A718B28-B901-416B-A5DD-D9A614408D6E}" type="sibTrans" cxnId="{26222A38-EDD5-4CFB-BB81-FF57A8C498B5}">
      <dgm:prSet/>
      <dgm:spPr/>
      <dgm:t>
        <a:bodyPr/>
        <a:lstStyle/>
        <a:p>
          <a:endParaRPr lang="en-US"/>
        </a:p>
      </dgm:t>
    </dgm:pt>
    <dgm:pt modelId="{DF2ABB4F-8DC3-4188-AD37-ED8A5756D019}">
      <dgm:prSet/>
      <dgm:spPr/>
      <dgm:t>
        <a:bodyPr/>
        <a:lstStyle/>
        <a:p>
          <a:r>
            <a:rPr lang="en-US"/>
            <a:t>- Existing detectors overfit to specific generators and lack interpretability</a:t>
          </a:r>
        </a:p>
      </dgm:t>
    </dgm:pt>
    <dgm:pt modelId="{6E03106F-115E-4D35-B9DC-7CD950EBF683}" type="parTrans" cxnId="{5AEE52F5-943D-4613-B239-B6B6FE4C9D1C}">
      <dgm:prSet/>
      <dgm:spPr/>
      <dgm:t>
        <a:bodyPr/>
        <a:lstStyle/>
        <a:p>
          <a:endParaRPr lang="en-US"/>
        </a:p>
      </dgm:t>
    </dgm:pt>
    <dgm:pt modelId="{9C334A0B-101B-44D5-B207-2981052989B4}" type="sibTrans" cxnId="{5AEE52F5-943D-4613-B239-B6B6FE4C9D1C}">
      <dgm:prSet/>
      <dgm:spPr/>
      <dgm:t>
        <a:bodyPr/>
        <a:lstStyle/>
        <a:p>
          <a:endParaRPr lang="en-US"/>
        </a:p>
      </dgm:t>
    </dgm:pt>
    <dgm:pt modelId="{EEFCF1D6-6827-465C-8133-2F2C00BE759F}">
      <dgm:prSet/>
      <dgm:spPr/>
      <dgm:t>
        <a:bodyPr/>
        <a:lstStyle/>
        <a:p>
          <a:r>
            <a:rPr lang="en-US"/>
            <a:t>- Objective: universal detector that generalizes across generators, fuses spatial + frequency cues, and explains decisions</a:t>
          </a:r>
        </a:p>
      </dgm:t>
    </dgm:pt>
    <dgm:pt modelId="{45905480-4225-4C9B-873E-797E106547F4}" type="parTrans" cxnId="{CD2E0238-16F0-409A-A136-DF77E7B11209}">
      <dgm:prSet/>
      <dgm:spPr/>
      <dgm:t>
        <a:bodyPr/>
        <a:lstStyle/>
        <a:p>
          <a:endParaRPr lang="en-US"/>
        </a:p>
      </dgm:t>
    </dgm:pt>
    <dgm:pt modelId="{59647473-E01B-4439-B824-6A12A95083FB}" type="sibTrans" cxnId="{CD2E0238-16F0-409A-A136-DF77E7B11209}">
      <dgm:prSet/>
      <dgm:spPr/>
      <dgm:t>
        <a:bodyPr/>
        <a:lstStyle/>
        <a:p>
          <a:endParaRPr lang="en-US"/>
        </a:p>
      </dgm:t>
    </dgm:pt>
    <dgm:pt modelId="{517A9CA1-BA7C-4465-BD6D-B402C37125AF}">
      <dgm:prSet/>
      <dgm:spPr/>
      <dgm:t>
        <a:bodyPr/>
        <a:lstStyle/>
        <a:p>
          <a:r>
            <a:rPr lang="en-US"/>
            <a:t>- Dataset: FaceForensics++ (real + fakes from Deepfakes, Face2Face, FaceSwap, NeuralTextures)</a:t>
          </a:r>
        </a:p>
      </dgm:t>
    </dgm:pt>
    <dgm:pt modelId="{2DEEA88D-4BBB-4461-9E9F-87D69E0DD7BC}" type="parTrans" cxnId="{3981CF87-FDE3-4C0A-B0F3-4ACF40BE084D}">
      <dgm:prSet/>
      <dgm:spPr/>
      <dgm:t>
        <a:bodyPr/>
        <a:lstStyle/>
        <a:p>
          <a:endParaRPr lang="en-US"/>
        </a:p>
      </dgm:t>
    </dgm:pt>
    <dgm:pt modelId="{0F51DB4E-E72A-44FF-89D6-4CBC6644FD06}" type="sibTrans" cxnId="{3981CF87-FDE3-4C0A-B0F3-4ACF40BE084D}">
      <dgm:prSet/>
      <dgm:spPr/>
      <dgm:t>
        <a:bodyPr/>
        <a:lstStyle/>
        <a:p>
          <a:endParaRPr lang="en-US"/>
        </a:p>
      </dgm:t>
    </dgm:pt>
    <dgm:pt modelId="{535865E0-1D32-4C98-B259-71B006C71C24}" type="pres">
      <dgm:prSet presAssocID="{726422AA-6E6C-45F0-92E2-1ED45BA6814D}" presName="vert0" presStyleCnt="0">
        <dgm:presLayoutVars>
          <dgm:dir/>
          <dgm:animOne val="branch"/>
          <dgm:animLvl val="lvl"/>
        </dgm:presLayoutVars>
      </dgm:prSet>
      <dgm:spPr/>
    </dgm:pt>
    <dgm:pt modelId="{28AA4A9A-8E55-4DF4-A199-61701B637729}" type="pres">
      <dgm:prSet presAssocID="{0657433B-719F-4EFA-B8F7-6F681C70700F}" presName="thickLine" presStyleLbl="alignNode1" presStyleIdx="0" presStyleCnt="4"/>
      <dgm:spPr/>
    </dgm:pt>
    <dgm:pt modelId="{DF95DEA7-A00D-4453-9B98-9159E913EC5D}" type="pres">
      <dgm:prSet presAssocID="{0657433B-719F-4EFA-B8F7-6F681C70700F}" presName="horz1" presStyleCnt="0"/>
      <dgm:spPr/>
    </dgm:pt>
    <dgm:pt modelId="{7B5C97BE-87D1-44E8-A65D-9FE17163E4AA}" type="pres">
      <dgm:prSet presAssocID="{0657433B-719F-4EFA-B8F7-6F681C70700F}" presName="tx1" presStyleLbl="revTx" presStyleIdx="0" presStyleCnt="4"/>
      <dgm:spPr/>
    </dgm:pt>
    <dgm:pt modelId="{2745C8F8-F827-4F3D-BAAE-B5B4031095A3}" type="pres">
      <dgm:prSet presAssocID="{0657433B-719F-4EFA-B8F7-6F681C70700F}" presName="vert1" presStyleCnt="0"/>
      <dgm:spPr/>
    </dgm:pt>
    <dgm:pt modelId="{0AAB9F3B-330E-4037-852E-8B8EFB7D6A86}" type="pres">
      <dgm:prSet presAssocID="{DF2ABB4F-8DC3-4188-AD37-ED8A5756D019}" presName="thickLine" presStyleLbl="alignNode1" presStyleIdx="1" presStyleCnt="4"/>
      <dgm:spPr/>
    </dgm:pt>
    <dgm:pt modelId="{D6C63C2E-E095-4338-B707-4C3143F6FD00}" type="pres">
      <dgm:prSet presAssocID="{DF2ABB4F-8DC3-4188-AD37-ED8A5756D019}" presName="horz1" presStyleCnt="0"/>
      <dgm:spPr/>
    </dgm:pt>
    <dgm:pt modelId="{1F81EA19-F010-4217-94A9-C407AB41BB4A}" type="pres">
      <dgm:prSet presAssocID="{DF2ABB4F-8DC3-4188-AD37-ED8A5756D019}" presName="tx1" presStyleLbl="revTx" presStyleIdx="1" presStyleCnt="4"/>
      <dgm:spPr/>
    </dgm:pt>
    <dgm:pt modelId="{D8F88F14-CCC9-491F-8E66-384A0D35F574}" type="pres">
      <dgm:prSet presAssocID="{DF2ABB4F-8DC3-4188-AD37-ED8A5756D019}" presName="vert1" presStyleCnt="0"/>
      <dgm:spPr/>
    </dgm:pt>
    <dgm:pt modelId="{8E3B98E4-5DD8-4053-A8B7-4B31BDEC2C1B}" type="pres">
      <dgm:prSet presAssocID="{EEFCF1D6-6827-465C-8133-2F2C00BE759F}" presName="thickLine" presStyleLbl="alignNode1" presStyleIdx="2" presStyleCnt="4"/>
      <dgm:spPr/>
    </dgm:pt>
    <dgm:pt modelId="{B449EAFD-810E-4514-A107-3F9EA8C3330F}" type="pres">
      <dgm:prSet presAssocID="{EEFCF1D6-6827-465C-8133-2F2C00BE759F}" presName="horz1" presStyleCnt="0"/>
      <dgm:spPr/>
    </dgm:pt>
    <dgm:pt modelId="{3044EF8A-1A64-4D51-8614-098B1BDF3542}" type="pres">
      <dgm:prSet presAssocID="{EEFCF1D6-6827-465C-8133-2F2C00BE759F}" presName="tx1" presStyleLbl="revTx" presStyleIdx="2" presStyleCnt="4"/>
      <dgm:spPr/>
    </dgm:pt>
    <dgm:pt modelId="{EF622067-77EF-46FD-8DFB-778B25A1B588}" type="pres">
      <dgm:prSet presAssocID="{EEFCF1D6-6827-465C-8133-2F2C00BE759F}" presName="vert1" presStyleCnt="0"/>
      <dgm:spPr/>
    </dgm:pt>
    <dgm:pt modelId="{E5BF8D73-D35B-4B8D-8379-2E2CC1CF9AE9}" type="pres">
      <dgm:prSet presAssocID="{517A9CA1-BA7C-4465-BD6D-B402C37125AF}" presName="thickLine" presStyleLbl="alignNode1" presStyleIdx="3" presStyleCnt="4"/>
      <dgm:spPr/>
    </dgm:pt>
    <dgm:pt modelId="{5866010F-3DB6-42A9-BBC0-64C390A56F8B}" type="pres">
      <dgm:prSet presAssocID="{517A9CA1-BA7C-4465-BD6D-B402C37125AF}" presName="horz1" presStyleCnt="0"/>
      <dgm:spPr/>
    </dgm:pt>
    <dgm:pt modelId="{03FF279C-6431-4245-8392-E42FB1DCCC45}" type="pres">
      <dgm:prSet presAssocID="{517A9CA1-BA7C-4465-BD6D-B402C37125AF}" presName="tx1" presStyleLbl="revTx" presStyleIdx="3" presStyleCnt="4"/>
      <dgm:spPr/>
    </dgm:pt>
    <dgm:pt modelId="{93FC6634-A1E6-45AE-9DB4-599BED004ADA}" type="pres">
      <dgm:prSet presAssocID="{517A9CA1-BA7C-4465-BD6D-B402C37125AF}" presName="vert1" presStyleCnt="0"/>
      <dgm:spPr/>
    </dgm:pt>
  </dgm:ptLst>
  <dgm:cxnLst>
    <dgm:cxn modelId="{3DB43405-F673-4CA7-9140-EC151BEB7C28}" type="presOf" srcId="{726422AA-6E6C-45F0-92E2-1ED45BA6814D}" destId="{535865E0-1D32-4C98-B259-71B006C71C24}" srcOrd="0" destOrd="0" presId="urn:microsoft.com/office/officeart/2008/layout/LinedList"/>
    <dgm:cxn modelId="{6539C10F-8569-4E33-95FD-D25604DBA6EC}" type="presOf" srcId="{517A9CA1-BA7C-4465-BD6D-B402C37125AF}" destId="{03FF279C-6431-4245-8392-E42FB1DCCC45}" srcOrd="0" destOrd="0" presId="urn:microsoft.com/office/officeart/2008/layout/LinedList"/>
    <dgm:cxn modelId="{CD2E0238-16F0-409A-A136-DF77E7B11209}" srcId="{726422AA-6E6C-45F0-92E2-1ED45BA6814D}" destId="{EEFCF1D6-6827-465C-8133-2F2C00BE759F}" srcOrd="2" destOrd="0" parTransId="{45905480-4225-4C9B-873E-797E106547F4}" sibTransId="{59647473-E01B-4439-B824-6A12A95083FB}"/>
    <dgm:cxn modelId="{26222A38-EDD5-4CFB-BB81-FF57A8C498B5}" srcId="{726422AA-6E6C-45F0-92E2-1ED45BA6814D}" destId="{0657433B-719F-4EFA-B8F7-6F681C70700F}" srcOrd="0" destOrd="0" parTransId="{5164AC0B-35E0-4F2A-947F-E8C88C4EF6AB}" sibTransId="{9A718B28-B901-416B-A5DD-D9A614408D6E}"/>
    <dgm:cxn modelId="{F01A5A6F-3667-41DA-8641-7BEAE7AECA34}" type="presOf" srcId="{0657433B-719F-4EFA-B8F7-6F681C70700F}" destId="{7B5C97BE-87D1-44E8-A65D-9FE17163E4AA}" srcOrd="0" destOrd="0" presId="urn:microsoft.com/office/officeart/2008/layout/LinedList"/>
    <dgm:cxn modelId="{A2E7CB7E-07AA-4781-89EE-23AE9902A769}" type="presOf" srcId="{DF2ABB4F-8DC3-4188-AD37-ED8A5756D019}" destId="{1F81EA19-F010-4217-94A9-C407AB41BB4A}" srcOrd="0" destOrd="0" presId="urn:microsoft.com/office/officeart/2008/layout/LinedList"/>
    <dgm:cxn modelId="{3981CF87-FDE3-4C0A-B0F3-4ACF40BE084D}" srcId="{726422AA-6E6C-45F0-92E2-1ED45BA6814D}" destId="{517A9CA1-BA7C-4465-BD6D-B402C37125AF}" srcOrd="3" destOrd="0" parTransId="{2DEEA88D-4BBB-4461-9E9F-87D69E0DD7BC}" sibTransId="{0F51DB4E-E72A-44FF-89D6-4CBC6644FD06}"/>
    <dgm:cxn modelId="{8DF77493-C6AF-42C6-89F5-AB8DBC72A3CE}" type="presOf" srcId="{EEFCF1D6-6827-465C-8133-2F2C00BE759F}" destId="{3044EF8A-1A64-4D51-8614-098B1BDF3542}" srcOrd="0" destOrd="0" presId="urn:microsoft.com/office/officeart/2008/layout/LinedList"/>
    <dgm:cxn modelId="{5AEE52F5-943D-4613-B239-B6B6FE4C9D1C}" srcId="{726422AA-6E6C-45F0-92E2-1ED45BA6814D}" destId="{DF2ABB4F-8DC3-4188-AD37-ED8A5756D019}" srcOrd="1" destOrd="0" parTransId="{6E03106F-115E-4D35-B9DC-7CD950EBF683}" sibTransId="{9C334A0B-101B-44D5-B207-2981052989B4}"/>
    <dgm:cxn modelId="{F7FDFF7D-10CD-43C8-A294-10FB6C0AADCA}" type="presParOf" srcId="{535865E0-1D32-4C98-B259-71B006C71C24}" destId="{28AA4A9A-8E55-4DF4-A199-61701B637729}" srcOrd="0" destOrd="0" presId="urn:microsoft.com/office/officeart/2008/layout/LinedList"/>
    <dgm:cxn modelId="{FCA0B6D3-A8D0-4302-8B38-3253C0C10435}" type="presParOf" srcId="{535865E0-1D32-4C98-B259-71B006C71C24}" destId="{DF95DEA7-A00D-4453-9B98-9159E913EC5D}" srcOrd="1" destOrd="0" presId="urn:microsoft.com/office/officeart/2008/layout/LinedList"/>
    <dgm:cxn modelId="{B49C769B-70AC-4D2F-B28A-26927092B6B6}" type="presParOf" srcId="{DF95DEA7-A00D-4453-9B98-9159E913EC5D}" destId="{7B5C97BE-87D1-44E8-A65D-9FE17163E4AA}" srcOrd="0" destOrd="0" presId="urn:microsoft.com/office/officeart/2008/layout/LinedList"/>
    <dgm:cxn modelId="{F21948BF-58F3-4955-8A08-7C1FBA4E785F}" type="presParOf" srcId="{DF95DEA7-A00D-4453-9B98-9159E913EC5D}" destId="{2745C8F8-F827-4F3D-BAAE-B5B4031095A3}" srcOrd="1" destOrd="0" presId="urn:microsoft.com/office/officeart/2008/layout/LinedList"/>
    <dgm:cxn modelId="{37D8C9CD-3CD7-4E20-9A1C-B199BCABEF78}" type="presParOf" srcId="{535865E0-1D32-4C98-B259-71B006C71C24}" destId="{0AAB9F3B-330E-4037-852E-8B8EFB7D6A86}" srcOrd="2" destOrd="0" presId="urn:microsoft.com/office/officeart/2008/layout/LinedList"/>
    <dgm:cxn modelId="{5663529C-1231-4426-B1CF-12885D674547}" type="presParOf" srcId="{535865E0-1D32-4C98-B259-71B006C71C24}" destId="{D6C63C2E-E095-4338-B707-4C3143F6FD00}" srcOrd="3" destOrd="0" presId="urn:microsoft.com/office/officeart/2008/layout/LinedList"/>
    <dgm:cxn modelId="{735B4A7D-9AAF-4A0D-9568-ACDAAE2EF144}" type="presParOf" srcId="{D6C63C2E-E095-4338-B707-4C3143F6FD00}" destId="{1F81EA19-F010-4217-94A9-C407AB41BB4A}" srcOrd="0" destOrd="0" presId="urn:microsoft.com/office/officeart/2008/layout/LinedList"/>
    <dgm:cxn modelId="{209A9987-BF44-4868-BC8C-BA98BCDE117C}" type="presParOf" srcId="{D6C63C2E-E095-4338-B707-4C3143F6FD00}" destId="{D8F88F14-CCC9-491F-8E66-384A0D35F574}" srcOrd="1" destOrd="0" presId="urn:microsoft.com/office/officeart/2008/layout/LinedList"/>
    <dgm:cxn modelId="{23D57CBB-B405-4403-ACF9-CB22BC5667EE}" type="presParOf" srcId="{535865E0-1D32-4C98-B259-71B006C71C24}" destId="{8E3B98E4-5DD8-4053-A8B7-4B31BDEC2C1B}" srcOrd="4" destOrd="0" presId="urn:microsoft.com/office/officeart/2008/layout/LinedList"/>
    <dgm:cxn modelId="{54E62180-2B98-4E1E-B56A-0176766F720C}" type="presParOf" srcId="{535865E0-1D32-4C98-B259-71B006C71C24}" destId="{B449EAFD-810E-4514-A107-3F9EA8C3330F}" srcOrd="5" destOrd="0" presId="urn:microsoft.com/office/officeart/2008/layout/LinedList"/>
    <dgm:cxn modelId="{EEB71607-27FB-4BE3-8687-B658E84725C2}" type="presParOf" srcId="{B449EAFD-810E-4514-A107-3F9EA8C3330F}" destId="{3044EF8A-1A64-4D51-8614-098B1BDF3542}" srcOrd="0" destOrd="0" presId="urn:microsoft.com/office/officeart/2008/layout/LinedList"/>
    <dgm:cxn modelId="{C415B4D5-E212-421E-8155-18289EFA137F}" type="presParOf" srcId="{B449EAFD-810E-4514-A107-3F9EA8C3330F}" destId="{EF622067-77EF-46FD-8DFB-778B25A1B588}" srcOrd="1" destOrd="0" presId="urn:microsoft.com/office/officeart/2008/layout/LinedList"/>
    <dgm:cxn modelId="{2E7FE7E2-A4F2-4FF7-9E14-2B11E6B2B235}" type="presParOf" srcId="{535865E0-1D32-4C98-B259-71B006C71C24}" destId="{E5BF8D73-D35B-4B8D-8379-2E2CC1CF9AE9}" srcOrd="6" destOrd="0" presId="urn:microsoft.com/office/officeart/2008/layout/LinedList"/>
    <dgm:cxn modelId="{A23A015F-6FC7-4A37-9C06-0199EF168D33}" type="presParOf" srcId="{535865E0-1D32-4C98-B259-71B006C71C24}" destId="{5866010F-3DB6-42A9-BBC0-64C390A56F8B}" srcOrd="7" destOrd="0" presId="urn:microsoft.com/office/officeart/2008/layout/LinedList"/>
    <dgm:cxn modelId="{E16CCB51-5B8E-4887-936B-EF359E808916}" type="presParOf" srcId="{5866010F-3DB6-42A9-BBC0-64C390A56F8B}" destId="{03FF279C-6431-4245-8392-E42FB1DCCC45}" srcOrd="0" destOrd="0" presId="urn:microsoft.com/office/officeart/2008/layout/LinedList"/>
    <dgm:cxn modelId="{B01BD064-705A-41A7-9DB1-E437FD1FB990}" type="presParOf" srcId="{5866010F-3DB6-42A9-BBC0-64C390A56F8B}" destId="{93FC6634-A1E6-45AE-9DB4-599BED004AD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AA4A9A-8E55-4DF4-A199-61701B637729}">
      <dsp:nvSpPr>
        <dsp:cNvPr id="0" name=""/>
        <dsp:cNvSpPr/>
      </dsp:nvSpPr>
      <dsp:spPr>
        <a:xfrm>
          <a:off x="0" y="0"/>
          <a:ext cx="4953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C97BE-87D1-44E8-A65D-9FE17163E4AA}">
      <dsp:nvSpPr>
        <dsp:cNvPr id="0" name=""/>
        <dsp:cNvSpPr/>
      </dsp:nvSpPr>
      <dsp:spPr>
        <a:xfrm>
          <a:off x="0" y="0"/>
          <a:ext cx="4953000" cy="99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Generative models produce photorealistic fakes indistinguishable from real photos</a:t>
          </a:r>
        </a:p>
      </dsp:txBody>
      <dsp:txXfrm>
        <a:off x="0" y="0"/>
        <a:ext cx="4953000" cy="999580"/>
      </dsp:txXfrm>
    </dsp:sp>
    <dsp:sp modelId="{0AAB9F3B-330E-4037-852E-8B8EFB7D6A86}">
      <dsp:nvSpPr>
        <dsp:cNvPr id="0" name=""/>
        <dsp:cNvSpPr/>
      </dsp:nvSpPr>
      <dsp:spPr>
        <a:xfrm>
          <a:off x="0" y="999580"/>
          <a:ext cx="4953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1EA19-F010-4217-94A9-C407AB41BB4A}">
      <dsp:nvSpPr>
        <dsp:cNvPr id="0" name=""/>
        <dsp:cNvSpPr/>
      </dsp:nvSpPr>
      <dsp:spPr>
        <a:xfrm>
          <a:off x="0" y="999580"/>
          <a:ext cx="4953000" cy="99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Existing detectors overfit to specific generators and lack interpretability</a:t>
          </a:r>
        </a:p>
      </dsp:txBody>
      <dsp:txXfrm>
        <a:off x="0" y="999580"/>
        <a:ext cx="4953000" cy="999580"/>
      </dsp:txXfrm>
    </dsp:sp>
    <dsp:sp modelId="{8E3B98E4-5DD8-4053-A8B7-4B31BDEC2C1B}">
      <dsp:nvSpPr>
        <dsp:cNvPr id="0" name=""/>
        <dsp:cNvSpPr/>
      </dsp:nvSpPr>
      <dsp:spPr>
        <a:xfrm>
          <a:off x="0" y="1999161"/>
          <a:ext cx="4953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44EF8A-1A64-4D51-8614-098B1BDF3542}">
      <dsp:nvSpPr>
        <dsp:cNvPr id="0" name=""/>
        <dsp:cNvSpPr/>
      </dsp:nvSpPr>
      <dsp:spPr>
        <a:xfrm>
          <a:off x="0" y="1999161"/>
          <a:ext cx="4953000" cy="99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Objective: universal detector that generalizes across generators, fuses spatial + frequency cues, and explains decisions</a:t>
          </a:r>
        </a:p>
      </dsp:txBody>
      <dsp:txXfrm>
        <a:off x="0" y="1999161"/>
        <a:ext cx="4953000" cy="999580"/>
      </dsp:txXfrm>
    </dsp:sp>
    <dsp:sp modelId="{E5BF8D73-D35B-4B8D-8379-2E2CC1CF9AE9}">
      <dsp:nvSpPr>
        <dsp:cNvPr id="0" name=""/>
        <dsp:cNvSpPr/>
      </dsp:nvSpPr>
      <dsp:spPr>
        <a:xfrm>
          <a:off x="0" y="2998742"/>
          <a:ext cx="4953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F279C-6431-4245-8392-E42FB1DCCC45}">
      <dsp:nvSpPr>
        <dsp:cNvPr id="0" name=""/>
        <dsp:cNvSpPr/>
      </dsp:nvSpPr>
      <dsp:spPr>
        <a:xfrm>
          <a:off x="0" y="2998742"/>
          <a:ext cx="4953000" cy="99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Dataset: FaceForensics++ (real + fakes from Deepfakes, Face2Face, FaceSwap, NeuralTextures)</a:t>
          </a:r>
        </a:p>
      </dsp:txBody>
      <dsp:txXfrm>
        <a:off x="0" y="2998742"/>
        <a:ext cx="4953000" cy="999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3936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5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1558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977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07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63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93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91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24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2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4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905C695-F54E-4EF8-8AEF-811D460E7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35F970-BD49-4530-9DB7-F962B9835E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4174" b="1684"/>
          <a:stretch>
            <a:fillRect/>
          </a:stretch>
        </p:blipFill>
        <p:spPr>
          <a:xfrm>
            <a:off x="2" y="1"/>
            <a:ext cx="12191997" cy="685799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5AEFF94-0E7F-40D2-BB64-2466E9D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705" y="159026"/>
            <a:ext cx="11870161" cy="6542788"/>
          </a:xfrm>
          <a:prstGeom prst="rect">
            <a:avLst/>
          </a:pr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48614-3579-8E0B-CF5A-4F266FD36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9253" y="1263650"/>
            <a:ext cx="7113494" cy="1880480"/>
          </a:xfrm>
        </p:spPr>
        <p:txBody>
          <a:bodyPr>
            <a:normAutofit/>
          </a:bodyPr>
          <a:lstStyle/>
          <a:p>
            <a:r>
              <a:rPr lang="en-US"/>
              <a:t>Universal Synthetic Image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E9E25-B411-3C35-E7D7-B656EE261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8989" y="4876803"/>
            <a:ext cx="5074022" cy="1233323"/>
          </a:xfrm>
        </p:spPr>
        <p:txBody>
          <a:bodyPr anchor="t">
            <a:normAutofit/>
          </a:bodyPr>
          <a:lstStyle/>
          <a:p>
            <a:r>
              <a:rPr lang="es-ES"/>
              <a:t>Tanvir Mahmud Prince, Eshan Agarwal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206FD63-63B5-4FE3-A87F-05F94B21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37480"/>
            <a:ext cx="867485" cy="115439"/>
            <a:chOff x="8910933" y="1861308"/>
            <a:chExt cx="867485" cy="11543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A86DBE9-D336-44D1-92FA-BA402C628C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A46B389-851B-469E-BEE7-92EA81669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23CA0E-FA7F-4ACA-9F3B-4FEBC353A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492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2023-9FF9-8223-4290-15ED1B361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			     Related Works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CBB8D25-7766-F425-B6DF-0CA9ABACC1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49688200"/>
              </p:ext>
            </p:extLst>
          </p:nvPr>
        </p:nvGraphicFramePr>
        <p:xfrm>
          <a:off x="1037305" y="2155369"/>
          <a:ext cx="4953000" cy="3998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BEA82-E58E-5244-F297-1FB41FBBA6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- Prior work: single-domain CNNs (</a:t>
            </a:r>
            <a:r>
              <a:rPr lang="en-US" dirty="0" err="1"/>
              <a:t>XceptionNet</a:t>
            </a:r>
            <a:r>
              <a:rPr lang="en-US" dirty="0"/>
              <a:t>) and frequency-only methods (</a:t>
            </a:r>
            <a:r>
              <a:rPr lang="en-US" dirty="0" err="1"/>
              <a:t>FreqNet</a:t>
            </a:r>
            <a:r>
              <a:rPr lang="en-US" dirty="0"/>
              <a:t>)</a:t>
            </a:r>
          </a:p>
          <a:p>
            <a:r>
              <a:rPr lang="en-US" dirty="0"/>
              <a:t>- Key gap: no approach combined both domains with per-sample dynamic weighting and explainability</a:t>
            </a:r>
          </a:p>
          <a:p>
            <a:r>
              <a:rPr lang="en-US" dirty="0"/>
              <a:t>- Our improvement over initial hypothesis: attention-based fusion outperforms simple concatenation, and Grad-CAM provides artifact localization</a:t>
            </a:r>
          </a:p>
        </p:txBody>
      </p:sp>
    </p:spTree>
    <p:extLst>
      <p:ext uri="{BB962C8B-B14F-4D97-AF65-F5344CB8AC3E}">
        <p14:creationId xmlns:p14="http://schemas.microsoft.com/office/powerpoint/2010/main" val="3697914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1887E-5EC6-3BD5-1D20-021F84AAA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70CBF-9A49-CB0C-74A4-E502FA4E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Two parallel CNN branches extract features from the same image in two ways:</a:t>
            </a:r>
          </a:p>
          <a:p>
            <a:r>
              <a:rPr lang="en-US" dirty="0"/>
              <a:t>  - Spatial branch (RGB, 3-channel) - captures texture, edge, and color artifacts</a:t>
            </a:r>
          </a:p>
          <a:p>
            <a:r>
              <a:rPr lang="en-US" dirty="0"/>
              <a:t>  - Frequency branch (FFT log-magnitude, 1-channel) - captures periodic artifacts invisible in RGB</a:t>
            </a:r>
          </a:p>
          <a:p>
            <a:endParaRPr lang="en-US" dirty="0"/>
          </a:p>
          <a:p>
            <a:r>
              <a:rPr lang="en-US" dirty="0"/>
              <a:t>Learned attention gate combines both feature vectors:</a:t>
            </a:r>
          </a:p>
          <a:p>
            <a:r>
              <a:rPr lang="en-US" dirty="0"/>
              <a:t>  - A small neural network assigns a weight (0 to 1) to each branch per image</a:t>
            </a:r>
          </a:p>
          <a:p>
            <a:r>
              <a:rPr lang="en-US" dirty="0"/>
              <a:t>  - Dynamically decides which domain matters more for that specific input</a:t>
            </a:r>
          </a:p>
          <a:p>
            <a:r>
              <a:rPr lang="en-US" dirty="0"/>
              <a:t>  - Ex: GAN fakes might show more in frequency, face-swaps more in spatial</a:t>
            </a:r>
          </a:p>
          <a:p>
            <a:endParaRPr lang="en-US" dirty="0"/>
          </a:p>
          <a:p>
            <a:r>
              <a:rPr lang="en-US" dirty="0"/>
              <a:t>Classifier head - fused features pass through an MLP with dropout for final Real vs. Fake prediction</a:t>
            </a:r>
          </a:p>
          <a:p>
            <a:endParaRPr lang="en-US" dirty="0"/>
          </a:p>
          <a:p>
            <a:r>
              <a:rPr lang="en-US" dirty="0"/>
              <a:t>Key advantage: Unlike simple concatenation, attention lets the model adapt per sample, making it robust across different generator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47F188-1A68-FCC3-313B-8C1754876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852" y="1657894"/>
            <a:ext cx="3542211" cy="354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488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B7EF7-894C-4B9C-BD62-51B531FA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476250"/>
            <a:ext cx="10134600" cy="1288489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248D1-A3F7-C62A-EEFF-7E2D3CAF0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04602"/>
            <a:ext cx="7086600" cy="460922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Comparison Metrics Table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 Takeaways:</a:t>
            </a:r>
          </a:p>
          <a:p>
            <a:r>
              <a:rPr lang="en-US" dirty="0"/>
              <a:t>- Attention Fusion beats all other models by &gt;7% accuracy</a:t>
            </a:r>
          </a:p>
          <a:p>
            <a:r>
              <a:rPr lang="en-US" dirty="0"/>
              <a:t>- +18.8% F1 over simple fusion → the attention gate is essential</a:t>
            </a:r>
          </a:p>
          <a:p>
            <a:r>
              <a:rPr lang="en-US" dirty="0"/>
              <a:t>- Spatial-only: high precision (92%) but misses 1/3 of fakes (67% recall)</a:t>
            </a:r>
          </a:p>
          <a:p>
            <a:r>
              <a:rPr lang="en-US" dirty="0"/>
              <a:t>- Frequency-only: near chance → spatial is the primary signal, frequency is complementary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3D4B2C-6F3D-93DE-D295-977B7DE3B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079196"/>
              </p:ext>
            </p:extLst>
          </p:nvPr>
        </p:nvGraphicFramePr>
        <p:xfrm>
          <a:off x="355974" y="1203452"/>
          <a:ext cx="836328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306">
                  <a:extLst>
                    <a:ext uri="{9D8B030D-6E8A-4147-A177-3AD203B41FA5}">
                      <a16:colId xmlns:a16="http://schemas.microsoft.com/office/drawing/2014/main" val="3823042554"/>
                    </a:ext>
                  </a:extLst>
                </a:gridCol>
                <a:gridCol w="1324008">
                  <a:extLst>
                    <a:ext uri="{9D8B030D-6E8A-4147-A177-3AD203B41FA5}">
                      <a16:colId xmlns:a16="http://schemas.microsoft.com/office/drawing/2014/main" val="2762549238"/>
                    </a:ext>
                  </a:extLst>
                </a:gridCol>
                <a:gridCol w="1672657">
                  <a:extLst>
                    <a:ext uri="{9D8B030D-6E8A-4147-A177-3AD203B41FA5}">
                      <a16:colId xmlns:a16="http://schemas.microsoft.com/office/drawing/2014/main" val="3353453495"/>
                    </a:ext>
                  </a:extLst>
                </a:gridCol>
                <a:gridCol w="1672657">
                  <a:extLst>
                    <a:ext uri="{9D8B030D-6E8A-4147-A177-3AD203B41FA5}">
                      <a16:colId xmlns:a16="http://schemas.microsoft.com/office/drawing/2014/main" val="2099708144"/>
                    </a:ext>
                  </a:extLst>
                </a:gridCol>
                <a:gridCol w="1672657">
                  <a:extLst>
                    <a:ext uri="{9D8B030D-6E8A-4147-A177-3AD203B41FA5}">
                      <a16:colId xmlns:a16="http://schemas.microsoft.com/office/drawing/2014/main" val="8388398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059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693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757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759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Attention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22050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33821B-5CDA-F0AF-C419-2A8469320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966" y="812239"/>
            <a:ext cx="2898468" cy="25796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DF5821-D816-A660-34E1-087E4C512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577090"/>
            <a:ext cx="4648200" cy="248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050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68726-1BD2-898C-9411-285476B80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12" y="-281940"/>
            <a:ext cx="10134600" cy="1288489"/>
          </a:xfrm>
        </p:spPr>
        <p:txBody>
          <a:bodyPr/>
          <a:lstStyle/>
          <a:p>
            <a:r>
              <a:rPr lang="en-US" dirty="0"/>
              <a:t>Discussion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1DDFD-6EB8-D96B-6164-11209081C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8" y="1119487"/>
            <a:ext cx="5067300" cy="396934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Contributions</a:t>
            </a:r>
          </a:p>
          <a:p>
            <a:r>
              <a:rPr lang="en-US" dirty="0"/>
              <a:t>1. Learnable Attention Fusion - dynamic per-sample weighting of spatial vs. frequency features (not static concatenation)</a:t>
            </a:r>
          </a:p>
          <a:p>
            <a:r>
              <a:rPr lang="en-US" dirty="0"/>
              <a:t>2. Explainable AI - Grad-CAM heatmaps localize artifacts for forensics interpretability</a:t>
            </a:r>
          </a:p>
          <a:p>
            <a:r>
              <a:rPr lang="en-US" dirty="0"/>
              <a:t>3. Universal Detection - generalizes across 5 generative methods without per-generator tuning</a:t>
            </a:r>
          </a:p>
          <a:p>
            <a:r>
              <a:rPr lang="en-US" dirty="0"/>
              <a:t>Key Insights</a:t>
            </a:r>
          </a:p>
          <a:p>
            <a:r>
              <a:rPr lang="en-US" dirty="0"/>
              <a:t>- Spatial features dominate detection for most fake images</a:t>
            </a:r>
          </a:p>
          <a:p>
            <a:r>
              <a:rPr lang="en-US" dirty="0"/>
              <a:t>- Frequency domain provides decisive cues in edge cases (Ex: high-quality GAN outputs)</a:t>
            </a:r>
          </a:p>
          <a:p>
            <a:r>
              <a:rPr lang="en-US" dirty="0"/>
              <a:t>- The attention mechanism reliably weights the frequency branch higher when the spatial branch is uncertain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842694-792D-8769-BEFC-B2131EE5CD4C}"/>
              </a:ext>
            </a:extLst>
          </p:cNvPr>
          <p:cNvSpPr txBox="1">
            <a:spLocks/>
          </p:cNvSpPr>
          <p:nvPr/>
        </p:nvSpPr>
        <p:spPr>
          <a:xfrm>
            <a:off x="5913120" y="1119487"/>
            <a:ext cx="50673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Limitations</a:t>
            </a:r>
          </a:p>
          <a:p>
            <a:r>
              <a:rPr lang="en-US" dirty="0"/>
              <a:t>- Trained only on </a:t>
            </a:r>
            <a:r>
              <a:rPr lang="en-US" dirty="0" err="1"/>
              <a:t>FaceForensics</a:t>
            </a:r>
            <a:r>
              <a:rPr lang="en-US" dirty="0"/>
              <a:t>++ - limited generator diversity</a:t>
            </a:r>
          </a:p>
          <a:p>
            <a:r>
              <a:rPr lang="en-US" dirty="0"/>
              <a:t>- Frame-by-frame only - no video-level temporal consistency analysis</a:t>
            </a:r>
          </a:p>
          <a:p>
            <a:r>
              <a:rPr lang="en-US" dirty="0"/>
              <a:t>Future Work</a:t>
            </a:r>
          </a:p>
          <a:p>
            <a:r>
              <a:rPr lang="en-US" dirty="0"/>
              <a:t>- Expand training across diverse generators (DALL-E, Midjourney, Stable Diffusion)</a:t>
            </a:r>
          </a:p>
          <a:p>
            <a:r>
              <a:rPr lang="en-US" dirty="0"/>
              <a:t>- Incorporate temporal analysis for video deepfake detection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Attention-based multi-domain fusion is an effective, explainable approach for universal synthetic image detection, achieving 88.1% accuracy with per-sample Grad-CAM interpretability.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F6C329-EA8E-7D5E-76AB-4DBA31E30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161" y="4420869"/>
            <a:ext cx="4169918" cy="208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8921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GC1">
      <a:dk1>
        <a:sysClr val="windowText" lastClr="000000"/>
      </a:dk1>
      <a:lt1>
        <a:sysClr val="window" lastClr="FFFFFF"/>
      </a:lt1>
      <a:dk2>
        <a:srgbClr val="2C2830"/>
      </a:dk2>
      <a:lt2>
        <a:srgbClr val="E0DCE1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536</Words>
  <Application>Microsoft Office PowerPoint</Application>
  <PresentationFormat>Widescreen</PresentationFormat>
  <Paragraphs>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Bembo</vt:lpstr>
      <vt:lpstr>AdornVTI</vt:lpstr>
      <vt:lpstr>Universal Synthetic Image Detection</vt:lpstr>
      <vt:lpstr>Introduction        Related Works</vt:lpstr>
      <vt:lpstr>Methodology</vt:lpstr>
      <vt:lpstr>Results</vt:lpstr>
      <vt:lpstr>Discussion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Agarwal, Eshan</dc:creator>
  <cp:lastModifiedBy>Agarwal, Eshan</cp:lastModifiedBy>
  <cp:revision>1</cp:revision>
  <dcterms:created xsi:type="dcterms:W3CDTF">2026-04-28T19:34:36Z</dcterms:created>
  <dcterms:modified xsi:type="dcterms:W3CDTF">2026-04-28T20:07:10Z</dcterms:modified>
</cp:coreProperties>
</file>