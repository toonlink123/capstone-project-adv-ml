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7" d="100"/>
          <a:sy n="57" d="100"/>
        </p:scale>
        <p:origin x="216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880144-2E39-468B-BD18-38B571A79FA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8460F4-F5E3-4CCD-8DB2-B00FAF88CB1C}">
      <dgm:prSet/>
      <dgm:spPr/>
      <dgm:t>
        <a:bodyPr/>
        <a:lstStyle/>
        <a:p>
          <a:r>
            <a:rPr lang="en-US" b="1"/>
            <a:t>Poor Generalization</a:t>
          </a:r>
          <a:endParaRPr lang="en-US"/>
        </a:p>
      </dgm:t>
    </dgm:pt>
    <dgm:pt modelId="{372DA156-86D6-4DD6-A9B6-4739444F4D8F}" type="parTrans" cxnId="{28592D01-52D6-4A9D-8306-D1AB27ED3274}">
      <dgm:prSet/>
      <dgm:spPr/>
      <dgm:t>
        <a:bodyPr/>
        <a:lstStyle/>
        <a:p>
          <a:endParaRPr lang="en-US"/>
        </a:p>
      </dgm:t>
    </dgm:pt>
    <dgm:pt modelId="{B12CE391-1CEB-4E2A-83B1-C8C8343EBCF6}" type="sibTrans" cxnId="{28592D01-52D6-4A9D-8306-D1AB27ED3274}">
      <dgm:prSet/>
      <dgm:spPr/>
      <dgm:t>
        <a:bodyPr/>
        <a:lstStyle/>
        <a:p>
          <a:endParaRPr lang="en-US"/>
        </a:p>
      </dgm:t>
    </dgm:pt>
    <dgm:pt modelId="{C530518B-0F66-4BF3-9FFE-03944CB8EEE0}">
      <dgm:prSet/>
      <dgm:spPr/>
      <dgm:t>
        <a:bodyPr/>
        <a:lstStyle/>
        <a:p>
          <a:r>
            <a:rPr lang="en-US"/>
            <a:t>- Models trained on one generator fail on unseen generators</a:t>
          </a:r>
        </a:p>
      </dgm:t>
    </dgm:pt>
    <dgm:pt modelId="{60CD1324-EAF0-4D79-8EDF-B41F6C2EE3CD}" type="parTrans" cxnId="{969F50AD-53CE-4403-8623-D7C631657AD2}">
      <dgm:prSet/>
      <dgm:spPr/>
      <dgm:t>
        <a:bodyPr/>
        <a:lstStyle/>
        <a:p>
          <a:endParaRPr lang="en-US"/>
        </a:p>
      </dgm:t>
    </dgm:pt>
    <dgm:pt modelId="{B3BD10E4-ECF6-4A6D-9C78-BA9BDE6604EF}" type="sibTrans" cxnId="{969F50AD-53CE-4403-8623-D7C631657AD2}">
      <dgm:prSet/>
      <dgm:spPr/>
      <dgm:t>
        <a:bodyPr/>
        <a:lstStyle/>
        <a:p>
          <a:endParaRPr lang="en-US"/>
        </a:p>
      </dgm:t>
    </dgm:pt>
    <dgm:pt modelId="{76E538FA-6A83-4D9D-A7AC-6DC8F5212982}">
      <dgm:prSet/>
      <dgm:spPr/>
      <dgm:t>
        <a:bodyPr/>
        <a:lstStyle/>
        <a:p>
          <a:r>
            <a:rPr lang="en-US" b="1"/>
            <a:t>Manipulation-Specific Fingerprints</a:t>
          </a:r>
          <a:endParaRPr lang="en-US"/>
        </a:p>
      </dgm:t>
    </dgm:pt>
    <dgm:pt modelId="{0A10FAA6-65E3-494D-B13C-71BA534CCD23}" type="parTrans" cxnId="{F7C6B264-5CB4-4A50-8899-2D49EFF21FDF}">
      <dgm:prSet/>
      <dgm:spPr/>
      <dgm:t>
        <a:bodyPr/>
        <a:lstStyle/>
        <a:p>
          <a:endParaRPr lang="en-US"/>
        </a:p>
      </dgm:t>
    </dgm:pt>
    <dgm:pt modelId="{6B4A4870-3810-4155-9AA1-9ED146DC1A8E}" type="sibTrans" cxnId="{F7C6B264-5CB4-4A50-8899-2D49EFF21FDF}">
      <dgm:prSet/>
      <dgm:spPr/>
      <dgm:t>
        <a:bodyPr/>
        <a:lstStyle/>
        <a:p>
          <a:endParaRPr lang="en-US"/>
        </a:p>
      </dgm:t>
    </dgm:pt>
    <dgm:pt modelId="{93B34C50-8F4C-4952-AA26-8E782144FE85}">
      <dgm:prSet/>
      <dgm:spPr/>
      <dgm:t>
        <a:bodyPr/>
        <a:lstStyle/>
        <a:p>
          <a:r>
            <a:rPr lang="en-US"/>
            <a:t>- Detectors learn generator fingerprints, not universal forgery cues</a:t>
          </a:r>
        </a:p>
      </dgm:t>
    </dgm:pt>
    <dgm:pt modelId="{6F46A650-6B8E-4CF9-A455-FF0F5220163D}" type="parTrans" cxnId="{BBC4E6F5-29EC-47D3-9C54-E522CC74B9CD}">
      <dgm:prSet/>
      <dgm:spPr/>
      <dgm:t>
        <a:bodyPr/>
        <a:lstStyle/>
        <a:p>
          <a:endParaRPr lang="en-US"/>
        </a:p>
      </dgm:t>
    </dgm:pt>
    <dgm:pt modelId="{87D7E0E1-ADD3-4A3D-A7A4-E30BF3759C2F}" type="sibTrans" cxnId="{BBC4E6F5-29EC-47D3-9C54-E522CC74B9CD}">
      <dgm:prSet/>
      <dgm:spPr/>
      <dgm:t>
        <a:bodyPr/>
        <a:lstStyle/>
        <a:p>
          <a:endParaRPr lang="en-US"/>
        </a:p>
      </dgm:t>
    </dgm:pt>
    <dgm:pt modelId="{AC4579E3-488F-46BF-B13B-9EE0409EC92B}">
      <dgm:prSet/>
      <dgm:spPr/>
      <dgm:t>
        <a:bodyPr/>
        <a:lstStyle/>
        <a:p>
          <a:r>
            <a:rPr lang="en-US" b="1"/>
            <a:t>No Explainability</a:t>
          </a:r>
          <a:endParaRPr lang="en-US"/>
        </a:p>
      </dgm:t>
    </dgm:pt>
    <dgm:pt modelId="{5DE2D5BF-8128-4B0E-9A16-DF4C79BC56B8}" type="parTrans" cxnId="{B332DADA-7AD7-4A17-8DD3-9C192543D490}">
      <dgm:prSet/>
      <dgm:spPr/>
      <dgm:t>
        <a:bodyPr/>
        <a:lstStyle/>
        <a:p>
          <a:endParaRPr lang="en-US"/>
        </a:p>
      </dgm:t>
    </dgm:pt>
    <dgm:pt modelId="{7CCCFB45-722E-4805-B19F-58BA25FEBC54}" type="sibTrans" cxnId="{B332DADA-7AD7-4A17-8DD3-9C192543D490}">
      <dgm:prSet/>
      <dgm:spPr/>
      <dgm:t>
        <a:bodyPr/>
        <a:lstStyle/>
        <a:p>
          <a:endParaRPr lang="en-US"/>
        </a:p>
      </dgm:t>
    </dgm:pt>
    <dgm:pt modelId="{E083570D-9CE0-4959-9BC1-40E28C0296E3}">
      <dgm:prSet/>
      <dgm:spPr/>
      <dgm:t>
        <a:bodyPr/>
        <a:lstStyle/>
        <a:p>
          <a:r>
            <a:rPr lang="en-US"/>
            <a:t>Virtually all detectors output a single binary label</a:t>
          </a:r>
        </a:p>
      </dgm:t>
    </dgm:pt>
    <dgm:pt modelId="{BBE1CD89-D050-4CAB-A016-AC741448E8DA}" type="parTrans" cxnId="{C56C02CB-512F-446D-9937-7F36864D3EC1}">
      <dgm:prSet/>
      <dgm:spPr/>
      <dgm:t>
        <a:bodyPr/>
        <a:lstStyle/>
        <a:p>
          <a:endParaRPr lang="en-US"/>
        </a:p>
      </dgm:t>
    </dgm:pt>
    <dgm:pt modelId="{6E8BF9FC-3055-4AFA-B2B3-FDF661E06F31}" type="sibTrans" cxnId="{C56C02CB-512F-446D-9937-7F36864D3EC1}">
      <dgm:prSet/>
      <dgm:spPr/>
      <dgm:t>
        <a:bodyPr/>
        <a:lstStyle/>
        <a:p>
          <a:endParaRPr lang="en-US"/>
        </a:p>
      </dgm:t>
    </dgm:pt>
    <dgm:pt modelId="{F0593BD6-4496-49CE-B2A5-1DF6B724F5C6}">
      <dgm:prSet/>
      <dgm:spPr/>
      <dgm:t>
        <a:bodyPr/>
        <a:lstStyle/>
        <a:p>
          <a:r>
            <a:rPr lang="en-US"/>
            <a:t>No transparency into which regions drove the decision</a:t>
          </a:r>
        </a:p>
      </dgm:t>
    </dgm:pt>
    <dgm:pt modelId="{B6F0D121-F24A-4E9C-A496-48B858E150C6}" type="parTrans" cxnId="{DC706FEE-D7B1-4B95-8A9F-741AD2A88A51}">
      <dgm:prSet/>
      <dgm:spPr/>
      <dgm:t>
        <a:bodyPr/>
        <a:lstStyle/>
        <a:p>
          <a:endParaRPr lang="en-US"/>
        </a:p>
      </dgm:t>
    </dgm:pt>
    <dgm:pt modelId="{3E4428FB-7B05-4BCE-BB12-B4ACD8C4BC34}" type="sibTrans" cxnId="{DC706FEE-D7B1-4B95-8A9F-741AD2A88A51}">
      <dgm:prSet/>
      <dgm:spPr/>
      <dgm:t>
        <a:bodyPr/>
        <a:lstStyle/>
        <a:p>
          <a:endParaRPr lang="en-US"/>
        </a:p>
      </dgm:t>
    </dgm:pt>
    <dgm:pt modelId="{132FA1FA-8960-4266-BA84-D6425B84B756}" type="pres">
      <dgm:prSet presAssocID="{B3880144-2E39-468B-BD18-38B571A79FA5}" presName="vert0" presStyleCnt="0">
        <dgm:presLayoutVars>
          <dgm:dir/>
          <dgm:animOne val="branch"/>
          <dgm:animLvl val="lvl"/>
        </dgm:presLayoutVars>
      </dgm:prSet>
      <dgm:spPr/>
    </dgm:pt>
    <dgm:pt modelId="{C622DDB9-5AF2-45DC-B0D9-0530D9113883}" type="pres">
      <dgm:prSet presAssocID="{158460F4-F5E3-4CCD-8DB2-B00FAF88CB1C}" presName="thickLine" presStyleLbl="alignNode1" presStyleIdx="0" presStyleCnt="7"/>
      <dgm:spPr/>
    </dgm:pt>
    <dgm:pt modelId="{DD631E7C-B75A-4D11-BF84-7F05488D8864}" type="pres">
      <dgm:prSet presAssocID="{158460F4-F5E3-4CCD-8DB2-B00FAF88CB1C}" presName="horz1" presStyleCnt="0"/>
      <dgm:spPr/>
    </dgm:pt>
    <dgm:pt modelId="{3F0BF6DE-3BF7-4D7C-8F30-DD337ED5701B}" type="pres">
      <dgm:prSet presAssocID="{158460F4-F5E3-4CCD-8DB2-B00FAF88CB1C}" presName="tx1" presStyleLbl="revTx" presStyleIdx="0" presStyleCnt="7"/>
      <dgm:spPr/>
    </dgm:pt>
    <dgm:pt modelId="{81933B33-9670-41E5-B590-B936B88F1EBE}" type="pres">
      <dgm:prSet presAssocID="{158460F4-F5E3-4CCD-8DB2-B00FAF88CB1C}" presName="vert1" presStyleCnt="0"/>
      <dgm:spPr/>
    </dgm:pt>
    <dgm:pt modelId="{3BF31478-D5D5-432E-BF8B-645B1811D563}" type="pres">
      <dgm:prSet presAssocID="{C530518B-0F66-4BF3-9FFE-03944CB8EEE0}" presName="thickLine" presStyleLbl="alignNode1" presStyleIdx="1" presStyleCnt="7"/>
      <dgm:spPr/>
    </dgm:pt>
    <dgm:pt modelId="{84898302-8ED6-4EEB-A5D1-4F8800F08DDA}" type="pres">
      <dgm:prSet presAssocID="{C530518B-0F66-4BF3-9FFE-03944CB8EEE0}" presName="horz1" presStyleCnt="0"/>
      <dgm:spPr/>
    </dgm:pt>
    <dgm:pt modelId="{D6303BB6-1B1E-4951-B134-5EC9B8730713}" type="pres">
      <dgm:prSet presAssocID="{C530518B-0F66-4BF3-9FFE-03944CB8EEE0}" presName="tx1" presStyleLbl="revTx" presStyleIdx="1" presStyleCnt="7"/>
      <dgm:spPr/>
    </dgm:pt>
    <dgm:pt modelId="{6E84D6C0-D851-4AF4-80DB-DC6ADAACCC6D}" type="pres">
      <dgm:prSet presAssocID="{C530518B-0F66-4BF3-9FFE-03944CB8EEE0}" presName="vert1" presStyleCnt="0"/>
      <dgm:spPr/>
    </dgm:pt>
    <dgm:pt modelId="{3C7FEF81-685D-4DA3-8EA1-408D07FEA09C}" type="pres">
      <dgm:prSet presAssocID="{76E538FA-6A83-4D9D-A7AC-6DC8F5212982}" presName="thickLine" presStyleLbl="alignNode1" presStyleIdx="2" presStyleCnt="7"/>
      <dgm:spPr/>
    </dgm:pt>
    <dgm:pt modelId="{A9461F01-7996-48D1-85CC-87A83DA4DB0D}" type="pres">
      <dgm:prSet presAssocID="{76E538FA-6A83-4D9D-A7AC-6DC8F5212982}" presName="horz1" presStyleCnt="0"/>
      <dgm:spPr/>
    </dgm:pt>
    <dgm:pt modelId="{B06B82F3-7564-42D4-92DF-69D8D160D120}" type="pres">
      <dgm:prSet presAssocID="{76E538FA-6A83-4D9D-A7AC-6DC8F5212982}" presName="tx1" presStyleLbl="revTx" presStyleIdx="2" presStyleCnt="7"/>
      <dgm:spPr/>
    </dgm:pt>
    <dgm:pt modelId="{82460809-A17C-4D0B-9BB3-9148091BD6B1}" type="pres">
      <dgm:prSet presAssocID="{76E538FA-6A83-4D9D-A7AC-6DC8F5212982}" presName="vert1" presStyleCnt="0"/>
      <dgm:spPr/>
    </dgm:pt>
    <dgm:pt modelId="{FDF38ECF-C323-4A9E-8C75-D1BD797A4AD1}" type="pres">
      <dgm:prSet presAssocID="{93B34C50-8F4C-4952-AA26-8E782144FE85}" presName="thickLine" presStyleLbl="alignNode1" presStyleIdx="3" presStyleCnt="7"/>
      <dgm:spPr/>
    </dgm:pt>
    <dgm:pt modelId="{33E5F926-161F-452B-A655-FFEA08786771}" type="pres">
      <dgm:prSet presAssocID="{93B34C50-8F4C-4952-AA26-8E782144FE85}" presName="horz1" presStyleCnt="0"/>
      <dgm:spPr/>
    </dgm:pt>
    <dgm:pt modelId="{3DFD3376-B4C9-40B0-807B-2FEC15DC3163}" type="pres">
      <dgm:prSet presAssocID="{93B34C50-8F4C-4952-AA26-8E782144FE85}" presName="tx1" presStyleLbl="revTx" presStyleIdx="3" presStyleCnt="7"/>
      <dgm:spPr/>
    </dgm:pt>
    <dgm:pt modelId="{7B9615D4-21BB-46CE-B86B-7DD1FE8EC509}" type="pres">
      <dgm:prSet presAssocID="{93B34C50-8F4C-4952-AA26-8E782144FE85}" presName="vert1" presStyleCnt="0"/>
      <dgm:spPr/>
    </dgm:pt>
    <dgm:pt modelId="{B2830E18-F323-4D56-9D52-58B0F6F8C64E}" type="pres">
      <dgm:prSet presAssocID="{AC4579E3-488F-46BF-B13B-9EE0409EC92B}" presName="thickLine" presStyleLbl="alignNode1" presStyleIdx="4" presStyleCnt="7"/>
      <dgm:spPr/>
    </dgm:pt>
    <dgm:pt modelId="{5AFDCDF9-A999-4C12-A863-EC49C455DC0F}" type="pres">
      <dgm:prSet presAssocID="{AC4579E3-488F-46BF-B13B-9EE0409EC92B}" presName="horz1" presStyleCnt="0"/>
      <dgm:spPr/>
    </dgm:pt>
    <dgm:pt modelId="{97C0BE21-44FE-40EB-B541-340E45B13AB7}" type="pres">
      <dgm:prSet presAssocID="{AC4579E3-488F-46BF-B13B-9EE0409EC92B}" presName="tx1" presStyleLbl="revTx" presStyleIdx="4" presStyleCnt="7"/>
      <dgm:spPr/>
    </dgm:pt>
    <dgm:pt modelId="{35A5FD5C-B04D-4F4F-9BF3-16D4E8616D0E}" type="pres">
      <dgm:prSet presAssocID="{AC4579E3-488F-46BF-B13B-9EE0409EC92B}" presName="vert1" presStyleCnt="0"/>
      <dgm:spPr/>
    </dgm:pt>
    <dgm:pt modelId="{F3802591-581A-4821-A023-89EBE0BC345C}" type="pres">
      <dgm:prSet presAssocID="{E083570D-9CE0-4959-9BC1-40E28C0296E3}" presName="thickLine" presStyleLbl="alignNode1" presStyleIdx="5" presStyleCnt="7"/>
      <dgm:spPr/>
    </dgm:pt>
    <dgm:pt modelId="{69380397-5EDF-41C6-A771-42EE8ED3EBB1}" type="pres">
      <dgm:prSet presAssocID="{E083570D-9CE0-4959-9BC1-40E28C0296E3}" presName="horz1" presStyleCnt="0"/>
      <dgm:spPr/>
    </dgm:pt>
    <dgm:pt modelId="{DFA19982-3EB5-48D2-874E-4484A377C858}" type="pres">
      <dgm:prSet presAssocID="{E083570D-9CE0-4959-9BC1-40E28C0296E3}" presName="tx1" presStyleLbl="revTx" presStyleIdx="5" presStyleCnt="7"/>
      <dgm:spPr/>
    </dgm:pt>
    <dgm:pt modelId="{1569F196-0CE8-452A-AAA2-332D662FF00A}" type="pres">
      <dgm:prSet presAssocID="{E083570D-9CE0-4959-9BC1-40E28C0296E3}" presName="vert1" presStyleCnt="0"/>
      <dgm:spPr/>
    </dgm:pt>
    <dgm:pt modelId="{2CD16224-9EFB-4821-8BF3-13F933202DEE}" type="pres">
      <dgm:prSet presAssocID="{F0593BD6-4496-49CE-B2A5-1DF6B724F5C6}" presName="thickLine" presStyleLbl="alignNode1" presStyleIdx="6" presStyleCnt="7"/>
      <dgm:spPr/>
    </dgm:pt>
    <dgm:pt modelId="{E760F38D-BEF2-4D83-AB52-9CCD24CF3D9E}" type="pres">
      <dgm:prSet presAssocID="{F0593BD6-4496-49CE-B2A5-1DF6B724F5C6}" presName="horz1" presStyleCnt="0"/>
      <dgm:spPr/>
    </dgm:pt>
    <dgm:pt modelId="{7933EECC-7BC1-40A5-8B44-CC222A508BF1}" type="pres">
      <dgm:prSet presAssocID="{F0593BD6-4496-49CE-B2A5-1DF6B724F5C6}" presName="tx1" presStyleLbl="revTx" presStyleIdx="6" presStyleCnt="7"/>
      <dgm:spPr/>
    </dgm:pt>
    <dgm:pt modelId="{6D7614EA-256F-41AD-875C-BF45C80DADD6}" type="pres">
      <dgm:prSet presAssocID="{F0593BD6-4496-49CE-B2A5-1DF6B724F5C6}" presName="vert1" presStyleCnt="0"/>
      <dgm:spPr/>
    </dgm:pt>
  </dgm:ptLst>
  <dgm:cxnLst>
    <dgm:cxn modelId="{28592D01-52D6-4A9D-8306-D1AB27ED3274}" srcId="{B3880144-2E39-468B-BD18-38B571A79FA5}" destId="{158460F4-F5E3-4CCD-8DB2-B00FAF88CB1C}" srcOrd="0" destOrd="0" parTransId="{372DA156-86D6-4DD6-A9B6-4739444F4D8F}" sibTransId="{B12CE391-1CEB-4E2A-83B1-C8C8343EBCF6}"/>
    <dgm:cxn modelId="{E1007314-19A7-4757-B560-D653F7A4DD5A}" type="presOf" srcId="{76E538FA-6A83-4D9D-A7AC-6DC8F5212982}" destId="{B06B82F3-7564-42D4-92DF-69D8D160D120}" srcOrd="0" destOrd="0" presId="urn:microsoft.com/office/officeart/2008/layout/LinedList"/>
    <dgm:cxn modelId="{31800529-9265-47C3-B83E-8D234230380D}" type="presOf" srcId="{F0593BD6-4496-49CE-B2A5-1DF6B724F5C6}" destId="{7933EECC-7BC1-40A5-8B44-CC222A508BF1}" srcOrd="0" destOrd="0" presId="urn:microsoft.com/office/officeart/2008/layout/LinedList"/>
    <dgm:cxn modelId="{F7C6B264-5CB4-4A50-8899-2D49EFF21FDF}" srcId="{B3880144-2E39-468B-BD18-38B571A79FA5}" destId="{76E538FA-6A83-4D9D-A7AC-6DC8F5212982}" srcOrd="2" destOrd="0" parTransId="{0A10FAA6-65E3-494D-B13C-71BA534CCD23}" sibTransId="{6B4A4870-3810-4155-9AA1-9ED146DC1A8E}"/>
    <dgm:cxn modelId="{D900D659-F845-42DA-ABEF-F25013C8E075}" type="presOf" srcId="{B3880144-2E39-468B-BD18-38B571A79FA5}" destId="{132FA1FA-8960-4266-BA84-D6425B84B756}" srcOrd="0" destOrd="0" presId="urn:microsoft.com/office/officeart/2008/layout/LinedList"/>
    <dgm:cxn modelId="{C86334A5-21FC-4741-A1A4-361D72328B35}" type="presOf" srcId="{93B34C50-8F4C-4952-AA26-8E782144FE85}" destId="{3DFD3376-B4C9-40B0-807B-2FEC15DC3163}" srcOrd="0" destOrd="0" presId="urn:microsoft.com/office/officeart/2008/layout/LinedList"/>
    <dgm:cxn modelId="{11FBDFA7-8F2B-45F1-9EEB-367AB160FFE8}" type="presOf" srcId="{AC4579E3-488F-46BF-B13B-9EE0409EC92B}" destId="{97C0BE21-44FE-40EB-B541-340E45B13AB7}" srcOrd="0" destOrd="0" presId="urn:microsoft.com/office/officeart/2008/layout/LinedList"/>
    <dgm:cxn modelId="{969F50AD-53CE-4403-8623-D7C631657AD2}" srcId="{B3880144-2E39-468B-BD18-38B571A79FA5}" destId="{C530518B-0F66-4BF3-9FFE-03944CB8EEE0}" srcOrd="1" destOrd="0" parTransId="{60CD1324-EAF0-4D79-8EDF-B41F6C2EE3CD}" sibTransId="{B3BD10E4-ECF6-4A6D-9C78-BA9BDE6604EF}"/>
    <dgm:cxn modelId="{C56C02CB-512F-446D-9937-7F36864D3EC1}" srcId="{B3880144-2E39-468B-BD18-38B571A79FA5}" destId="{E083570D-9CE0-4959-9BC1-40E28C0296E3}" srcOrd="5" destOrd="0" parTransId="{BBE1CD89-D050-4CAB-A016-AC741448E8DA}" sibTransId="{6E8BF9FC-3055-4AFA-B2B3-FDF661E06F31}"/>
    <dgm:cxn modelId="{B332DADA-7AD7-4A17-8DD3-9C192543D490}" srcId="{B3880144-2E39-468B-BD18-38B571A79FA5}" destId="{AC4579E3-488F-46BF-B13B-9EE0409EC92B}" srcOrd="4" destOrd="0" parTransId="{5DE2D5BF-8128-4B0E-9A16-DF4C79BC56B8}" sibTransId="{7CCCFB45-722E-4805-B19F-58BA25FEBC54}"/>
    <dgm:cxn modelId="{73E7BEE2-3E29-4843-BDDE-EAC3A40797A9}" type="presOf" srcId="{158460F4-F5E3-4CCD-8DB2-B00FAF88CB1C}" destId="{3F0BF6DE-3BF7-4D7C-8F30-DD337ED5701B}" srcOrd="0" destOrd="0" presId="urn:microsoft.com/office/officeart/2008/layout/LinedList"/>
    <dgm:cxn modelId="{0C8938E9-7E44-4DFE-A56C-22952BE15FA1}" type="presOf" srcId="{E083570D-9CE0-4959-9BC1-40E28C0296E3}" destId="{DFA19982-3EB5-48D2-874E-4484A377C858}" srcOrd="0" destOrd="0" presId="urn:microsoft.com/office/officeart/2008/layout/LinedList"/>
    <dgm:cxn modelId="{DC706FEE-D7B1-4B95-8A9F-741AD2A88A51}" srcId="{B3880144-2E39-468B-BD18-38B571A79FA5}" destId="{F0593BD6-4496-49CE-B2A5-1DF6B724F5C6}" srcOrd="6" destOrd="0" parTransId="{B6F0D121-F24A-4E9C-A496-48B858E150C6}" sibTransId="{3E4428FB-7B05-4BCE-BB12-B4ACD8C4BC34}"/>
    <dgm:cxn modelId="{BBC4E6F5-29EC-47D3-9C54-E522CC74B9CD}" srcId="{B3880144-2E39-468B-BD18-38B571A79FA5}" destId="{93B34C50-8F4C-4952-AA26-8E782144FE85}" srcOrd="3" destOrd="0" parTransId="{6F46A650-6B8E-4CF9-A455-FF0F5220163D}" sibTransId="{87D7E0E1-ADD3-4A3D-A7A4-E30BF3759C2F}"/>
    <dgm:cxn modelId="{FEEC4DFC-8342-42C6-88EE-0712ABCB8F9B}" type="presOf" srcId="{C530518B-0F66-4BF3-9FFE-03944CB8EEE0}" destId="{D6303BB6-1B1E-4951-B134-5EC9B8730713}" srcOrd="0" destOrd="0" presId="urn:microsoft.com/office/officeart/2008/layout/LinedList"/>
    <dgm:cxn modelId="{0500C28D-F51D-45EE-B0A9-484BE78997F3}" type="presParOf" srcId="{132FA1FA-8960-4266-BA84-D6425B84B756}" destId="{C622DDB9-5AF2-45DC-B0D9-0530D9113883}" srcOrd="0" destOrd="0" presId="urn:microsoft.com/office/officeart/2008/layout/LinedList"/>
    <dgm:cxn modelId="{411CF91F-E054-4A75-8F97-A835DE8D119A}" type="presParOf" srcId="{132FA1FA-8960-4266-BA84-D6425B84B756}" destId="{DD631E7C-B75A-4D11-BF84-7F05488D8864}" srcOrd="1" destOrd="0" presId="urn:microsoft.com/office/officeart/2008/layout/LinedList"/>
    <dgm:cxn modelId="{297AA9F6-329B-4BB0-8CD4-5696AA18F2E1}" type="presParOf" srcId="{DD631E7C-B75A-4D11-BF84-7F05488D8864}" destId="{3F0BF6DE-3BF7-4D7C-8F30-DD337ED5701B}" srcOrd="0" destOrd="0" presId="urn:microsoft.com/office/officeart/2008/layout/LinedList"/>
    <dgm:cxn modelId="{C8927AC1-F5AE-4137-800B-8B88EB1124FA}" type="presParOf" srcId="{DD631E7C-B75A-4D11-BF84-7F05488D8864}" destId="{81933B33-9670-41E5-B590-B936B88F1EBE}" srcOrd="1" destOrd="0" presId="urn:microsoft.com/office/officeart/2008/layout/LinedList"/>
    <dgm:cxn modelId="{189A7DBB-D4E3-4150-8D68-983EC13ED806}" type="presParOf" srcId="{132FA1FA-8960-4266-BA84-D6425B84B756}" destId="{3BF31478-D5D5-432E-BF8B-645B1811D563}" srcOrd="2" destOrd="0" presId="urn:microsoft.com/office/officeart/2008/layout/LinedList"/>
    <dgm:cxn modelId="{991587E4-2603-4D93-85EB-707D28D96A55}" type="presParOf" srcId="{132FA1FA-8960-4266-BA84-D6425B84B756}" destId="{84898302-8ED6-4EEB-A5D1-4F8800F08DDA}" srcOrd="3" destOrd="0" presId="urn:microsoft.com/office/officeart/2008/layout/LinedList"/>
    <dgm:cxn modelId="{E2435ABE-3EC9-473C-9A6F-3D07D41F5328}" type="presParOf" srcId="{84898302-8ED6-4EEB-A5D1-4F8800F08DDA}" destId="{D6303BB6-1B1E-4951-B134-5EC9B8730713}" srcOrd="0" destOrd="0" presId="urn:microsoft.com/office/officeart/2008/layout/LinedList"/>
    <dgm:cxn modelId="{760D0A55-3C49-465D-BC8A-39B347081988}" type="presParOf" srcId="{84898302-8ED6-4EEB-A5D1-4F8800F08DDA}" destId="{6E84D6C0-D851-4AF4-80DB-DC6ADAACCC6D}" srcOrd="1" destOrd="0" presId="urn:microsoft.com/office/officeart/2008/layout/LinedList"/>
    <dgm:cxn modelId="{BAF84D62-D5A8-4A52-91BC-04B2DAF1FD49}" type="presParOf" srcId="{132FA1FA-8960-4266-BA84-D6425B84B756}" destId="{3C7FEF81-685D-4DA3-8EA1-408D07FEA09C}" srcOrd="4" destOrd="0" presId="urn:microsoft.com/office/officeart/2008/layout/LinedList"/>
    <dgm:cxn modelId="{6895DE19-237F-4258-8F75-A8C9604BEAC3}" type="presParOf" srcId="{132FA1FA-8960-4266-BA84-D6425B84B756}" destId="{A9461F01-7996-48D1-85CC-87A83DA4DB0D}" srcOrd="5" destOrd="0" presId="urn:microsoft.com/office/officeart/2008/layout/LinedList"/>
    <dgm:cxn modelId="{D54AAACC-E65B-493B-90D1-91D618FA0F64}" type="presParOf" srcId="{A9461F01-7996-48D1-85CC-87A83DA4DB0D}" destId="{B06B82F3-7564-42D4-92DF-69D8D160D120}" srcOrd="0" destOrd="0" presId="urn:microsoft.com/office/officeart/2008/layout/LinedList"/>
    <dgm:cxn modelId="{8405DF38-F03E-446E-B1C5-F325982F413C}" type="presParOf" srcId="{A9461F01-7996-48D1-85CC-87A83DA4DB0D}" destId="{82460809-A17C-4D0B-9BB3-9148091BD6B1}" srcOrd="1" destOrd="0" presId="urn:microsoft.com/office/officeart/2008/layout/LinedList"/>
    <dgm:cxn modelId="{BA7CE261-B32C-4DA9-8989-CB0A245F66E6}" type="presParOf" srcId="{132FA1FA-8960-4266-BA84-D6425B84B756}" destId="{FDF38ECF-C323-4A9E-8C75-D1BD797A4AD1}" srcOrd="6" destOrd="0" presId="urn:microsoft.com/office/officeart/2008/layout/LinedList"/>
    <dgm:cxn modelId="{74930176-BC4B-4BE0-8D87-A37FAB44984B}" type="presParOf" srcId="{132FA1FA-8960-4266-BA84-D6425B84B756}" destId="{33E5F926-161F-452B-A655-FFEA08786771}" srcOrd="7" destOrd="0" presId="urn:microsoft.com/office/officeart/2008/layout/LinedList"/>
    <dgm:cxn modelId="{6E0425CC-2E9F-4D57-8AA6-1D9DCBBD7ECA}" type="presParOf" srcId="{33E5F926-161F-452B-A655-FFEA08786771}" destId="{3DFD3376-B4C9-40B0-807B-2FEC15DC3163}" srcOrd="0" destOrd="0" presId="urn:microsoft.com/office/officeart/2008/layout/LinedList"/>
    <dgm:cxn modelId="{40E3925E-6E9C-4C79-A6BD-4FEC29E43703}" type="presParOf" srcId="{33E5F926-161F-452B-A655-FFEA08786771}" destId="{7B9615D4-21BB-46CE-B86B-7DD1FE8EC509}" srcOrd="1" destOrd="0" presId="urn:microsoft.com/office/officeart/2008/layout/LinedList"/>
    <dgm:cxn modelId="{0492CA7F-A8DA-45D2-8EB1-C765A61C68D2}" type="presParOf" srcId="{132FA1FA-8960-4266-BA84-D6425B84B756}" destId="{B2830E18-F323-4D56-9D52-58B0F6F8C64E}" srcOrd="8" destOrd="0" presId="urn:microsoft.com/office/officeart/2008/layout/LinedList"/>
    <dgm:cxn modelId="{161365EC-564A-4DA6-AC97-6AB33F294E7B}" type="presParOf" srcId="{132FA1FA-8960-4266-BA84-D6425B84B756}" destId="{5AFDCDF9-A999-4C12-A863-EC49C455DC0F}" srcOrd="9" destOrd="0" presId="urn:microsoft.com/office/officeart/2008/layout/LinedList"/>
    <dgm:cxn modelId="{2E00F50E-901B-46CB-957B-83408F3424ED}" type="presParOf" srcId="{5AFDCDF9-A999-4C12-A863-EC49C455DC0F}" destId="{97C0BE21-44FE-40EB-B541-340E45B13AB7}" srcOrd="0" destOrd="0" presId="urn:microsoft.com/office/officeart/2008/layout/LinedList"/>
    <dgm:cxn modelId="{0E6CAAB0-B2B9-47CD-AB02-AAEF8E131D21}" type="presParOf" srcId="{5AFDCDF9-A999-4C12-A863-EC49C455DC0F}" destId="{35A5FD5C-B04D-4F4F-9BF3-16D4E8616D0E}" srcOrd="1" destOrd="0" presId="urn:microsoft.com/office/officeart/2008/layout/LinedList"/>
    <dgm:cxn modelId="{938950D4-C52F-4A3A-90A0-3D2138333480}" type="presParOf" srcId="{132FA1FA-8960-4266-BA84-D6425B84B756}" destId="{F3802591-581A-4821-A023-89EBE0BC345C}" srcOrd="10" destOrd="0" presId="urn:microsoft.com/office/officeart/2008/layout/LinedList"/>
    <dgm:cxn modelId="{E90C55F1-C997-4FA8-8268-0CEAE5245FB3}" type="presParOf" srcId="{132FA1FA-8960-4266-BA84-D6425B84B756}" destId="{69380397-5EDF-41C6-A771-42EE8ED3EBB1}" srcOrd="11" destOrd="0" presId="urn:microsoft.com/office/officeart/2008/layout/LinedList"/>
    <dgm:cxn modelId="{F2C1D8D6-EC26-49D3-8B19-1C87B3147F9F}" type="presParOf" srcId="{69380397-5EDF-41C6-A771-42EE8ED3EBB1}" destId="{DFA19982-3EB5-48D2-874E-4484A377C858}" srcOrd="0" destOrd="0" presId="urn:microsoft.com/office/officeart/2008/layout/LinedList"/>
    <dgm:cxn modelId="{6FF300E1-30AD-4816-902B-989B1B08CD7E}" type="presParOf" srcId="{69380397-5EDF-41C6-A771-42EE8ED3EBB1}" destId="{1569F196-0CE8-452A-AAA2-332D662FF00A}" srcOrd="1" destOrd="0" presId="urn:microsoft.com/office/officeart/2008/layout/LinedList"/>
    <dgm:cxn modelId="{7C355209-146B-4FA8-8F94-9185B8AA64C6}" type="presParOf" srcId="{132FA1FA-8960-4266-BA84-D6425B84B756}" destId="{2CD16224-9EFB-4821-8BF3-13F933202DEE}" srcOrd="12" destOrd="0" presId="urn:microsoft.com/office/officeart/2008/layout/LinedList"/>
    <dgm:cxn modelId="{30F711BB-1292-48EE-BDF2-1C4530FD4C10}" type="presParOf" srcId="{132FA1FA-8960-4266-BA84-D6425B84B756}" destId="{E760F38D-BEF2-4D83-AB52-9CCD24CF3D9E}" srcOrd="13" destOrd="0" presId="urn:microsoft.com/office/officeart/2008/layout/LinedList"/>
    <dgm:cxn modelId="{0BB5F6C0-CAF6-4A38-9C77-02FBC81379A2}" type="presParOf" srcId="{E760F38D-BEF2-4D83-AB52-9CCD24CF3D9E}" destId="{7933EECC-7BC1-40A5-8B44-CC222A508BF1}" srcOrd="0" destOrd="0" presId="urn:microsoft.com/office/officeart/2008/layout/LinedList"/>
    <dgm:cxn modelId="{BEBB6E68-D623-4CF1-9D92-272A43D1CAD2}" type="presParOf" srcId="{E760F38D-BEF2-4D83-AB52-9CCD24CF3D9E}" destId="{6D7614EA-256F-41AD-875C-BF45C80DADD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44551D-6740-4CC9-AB82-FC7A9E46E3F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61CC477-A256-4E31-9CEE-1137991FF650}">
      <dgm:prSet/>
      <dgm:spPr/>
      <dgm:t>
        <a:bodyPr/>
        <a:lstStyle/>
        <a:p>
          <a:r>
            <a:rPr lang="en-US"/>
            <a:t>Input: one video frame (128x128 RGB)</a:t>
          </a:r>
        </a:p>
      </dgm:t>
    </dgm:pt>
    <dgm:pt modelId="{E87C90E4-66F3-4559-8750-31630A78A328}" type="parTrans" cxnId="{601F59F6-9A2F-461D-8520-3B30AD49EF34}">
      <dgm:prSet/>
      <dgm:spPr/>
      <dgm:t>
        <a:bodyPr/>
        <a:lstStyle/>
        <a:p>
          <a:endParaRPr lang="en-US"/>
        </a:p>
      </dgm:t>
    </dgm:pt>
    <dgm:pt modelId="{5DC59B61-384C-4BD1-B08B-618F3C7F2ED1}" type="sibTrans" cxnId="{601F59F6-9A2F-461D-8520-3B30AD49EF34}">
      <dgm:prSet/>
      <dgm:spPr/>
      <dgm:t>
        <a:bodyPr/>
        <a:lstStyle/>
        <a:p>
          <a:endParaRPr lang="en-US"/>
        </a:p>
      </dgm:t>
    </dgm:pt>
    <dgm:pt modelId="{86C885D1-0A0F-4BF1-939F-FFB734554DD5}">
      <dgm:prSet/>
      <dgm:spPr/>
      <dgm:t>
        <a:bodyPr/>
        <a:lstStyle/>
        <a:p>
          <a:r>
            <a:rPr lang="en-US"/>
            <a:t>Two parallel preprocessing paths:</a:t>
          </a:r>
        </a:p>
      </dgm:t>
    </dgm:pt>
    <dgm:pt modelId="{98CC34A8-339A-4C84-B91C-C56019567046}" type="parTrans" cxnId="{07195573-3A61-4671-826B-B5BB9C081640}">
      <dgm:prSet/>
      <dgm:spPr/>
      <dgm:t>
        <a:bodyPr/>
        <a:lstStyle/>
        <a:p>
          <a:endParaRPr lang="en-US"/>
        </a:p>
      </dgm:t>
    </dgm:pt>
    <dgm:pt modelId="{1F329AD5-E5EA-4D93-A9A2-D8AF75A05518}" type="sibTrans" cxnId="{07195573-3A61-4671-826B-B5BB9C081640}">
      <dgm:prSet/>
      <dgm:spPr/>
      <dgm:t>
        <a:bodyPr/>
        <a:lstStyle/>
        <a:p>
          <a:endParaRPr lang="en-US"/>
        </a:p>
      </dgm:t>
    </dgm:pt>
    <dgm:pt modelId="{AAEADA2D-3488-4F4F-8998-FF9082F78269}">
      <dgm:prSet/>
      <dgm:spPr/>
      <dgm:t>
        <a:bodyPr/>
        <a:lstStyle/>
        <a:p>
          <a:r>
            <a:rPr lang="en-US"/>
            <a:t>Path A: RGB → Spatial CNN branch (3 channels)</a:t>
          </a:r>
        </a:p>
      </dgm:t>
    </dgm:pt>
    <dgm:pt modelId="{7D5A60B3-D86D-4102-AB13-2DA8EFD9099C}" type="parTrans" cxnId="{C033A6C7-C059-4C7E-8F30-E723CBF1B58D}">
      <dgm:prSet/>
      <dgm:spPr/>
      <dgm:t>
        <a:bodyPr/>
        <a:lstStyle/>
        <a:p>
          <a:endParaRPr lang="en-US"/>
        </a:p>
      </dgm:t>
    </dgm:pt>
    <dgm:pt modelId="{9AF540A9-D389-461E-A348-66B688175B7F}" type="sibTrans" cxnId="{C033A6C7-C059-4C7E-8F30-E723CBF1B58D}">
      <dgm:prSet/>
      <dgm:spPr/>
      <dgm:t>
        <a:bodyPr/>
        <a:lstStyle/>
        <a:p>
          <a:endParaRPr lang="en-US"/>
        </a:p>
      </dgm:t>
    </dgm:pt>
    <dgm:pt modelId="{0471CF12-9FD8-4621-8F5D-A1FBC221BFBE}">
      <dgm:prSet/>
      <dgm:spPr/>
      <dgm:t>
        <a:bodyPr/>
        <a:lstStyle/>
        <a:p>
          <a:r>
            <a:rPr lang="en-US"/>
            <a:t>Path B: Grayscale → FFT → Frequency CNN branch (1 channel)</a:t>
          </a:r>
        </a:p>
      </dgm:t>
    </dgm:pt>
    <dgm:pt modelId="{198F0759-BDBD-4263-9B52-80DF232DEF19}" type="parTrans" cxnId="{ABF27601-3777-4578-9C44-B970CE305FF2}">
      <dgm:prSet/>
      <dgm:spPr/>
      <dgm:t>
        <a:bodyPr/>
        <a:lstStyle/>
        <a:p>
          <a:endParaRPr lang="en-US"/>
        </a:p>
      </dgm:t>
    </dgm:pt>
    <dgm:pt modelId="{401A09C8-52F2-47CA-A703-F09200159CCA}" type="sibTrans" cxnId="{ABF27601-3777-4578-9C44-B970CE305FF2}">
      <dgm:prSet/>
      <dgm:spPr/>
      <dgm:t>
        <a:bodyPr/>
        <a:lstStyle/>
        <a:p>
          <a:endParaRPr lang="en-US"/>
        </a:p>
      </dgm:t>
    </dgm:pt>
    <dgm:pt modelId="{A304D6AD-76C0-4287-9A1E-CDD26AD15E5C}">
      <dgm:prSet/>
      <dgm:spPr/>
      <dgm:t>
        <a:bodyPr/>
        <a:lstStyle/>
        <a:p>
          <a:r>
            <a:rPr lang="en-US"/>
            <a:t>Feature extraction:</a:t>
          </a:r>
        </a:p>
      </dgm:t>
    </dgm:pt>
    <dgm:pt modelId="{7DB78367-0D8E-43D8-9BF2-6C29B16E6577}" type="parTrans" cxnId="{38512DE1-376C-4FA0-9ACD-BCA1AE9972B1}">
      <dgm:prSet/>
      <dgm:spPr/>
      <dgm:t>
        <a:bodyPr/>
        <a:lstStyle/>
        <a:p>
          <a:endParaRPr lang="en-US"/>
        </a:p>
      </dgm:t>
    </dgm:pt>
    <dgm:pt modelId="{050425B0-5F67-4B31-B2FB-E2CD63C52414}" type="sibTrans" cxnId="{38512DE1-376C-4FA0-9ACD-BCA1AE9972B1}">
      <dgm:prSet/>
      <dgm:spPr/>
      <dgm:t>
        <a:bodyPr/>
        <a:lstStyle/>
        <a:p>
          <a:endParaRPr lang="en-US"/>
        </a:p>
      </dgm:t>
    </dgm:pt>
    <dgm:pt modelId="{42CC9BB6-15FD-46B7-88F8-98FB3B9E18D3}">
      <dgm:prSet/>
      <dgm:spPr/>
      <dgm:t>
        <a:bodyPr/>
        <a:lstStyle/>
        <a:p>
          <a:r>
            <a:rPr lang="en-US"/>
            <a:t>Spatial branch: 3-block CNN (16→32→64 filters, ReLU, MaxPool)</a:t>
          </a:r>
        </a:p>
      </dgm:t>
    </dgm:pt>
    <dgm:pt modelId="{FF89F854-8BF6-4D24-9A34-AB6E7174039D}" type="parTrans" cxnId="{687ECDBF-3DA3-4714-9B34-E2CFD97B94EF}">
      <dgm:prSet/>
      <dgm:spPr/>
      <dgm:t>
        <a:bodyPr/>
        <a:lstStyle/>
        <a:p>
          <a:endParaRPr lang="en-US"/>
        </a:p>
      </dgm:t>
    </dgm:pt>
    <dgm:pt modelId="{E5053479-045B-4BD8-A432-8D035CC370F8}" type="sibTrans" cxnId="{687ECDBF-3DA3-4714-9B34-E2CFD97B94EF}">
      <dgm:prSet/>
      <dgm:spPr/>
      <dgm:t>
        <a:bodyPr/>
        <a:lstStyle/>
        <a:p>
          <a:endParaRPr lang="en-US"/>
        </a:p>
      </dgm:t>
    </dgm:pt>
    <dgm:pt modelId="{7892B5C0-F713-49B8-95C3-4A9EB9537D90}">
      <dgm:prSet/>
      <dgm:spPr/>
      <dgm:t>
        <a:bodyPr/>
        <a:lstStyle/>
        <a:p>
          <a:r>
            <a:rPr lang="en-US"/>
            <a:t>Frequency branch: identical 3-block CNN</a:t>
          </a:r>
        </a:p>
      </dgm:t>
    </dgm:pt>
    <dgm:pt modelId="{7AA1F604-B24F-455D-B8CE-D8FD6DD217F4}" type="parTrans" cxnId="{BC9D532A-442B-4FF4-927B-11E804A0C03B}">
      <dgm:prSet/>
      <dgm:spPr/>
      <dgm:t>
        <a:bodyPr/>
        <a:lstStyle/>
        <a:p>
          <a:endParaRPr lang="en-US"/>
        </a:p>
      </dgm:t>
    </dgm:pt>
    <dgm:pt modelId="{4ADDEA49-D4B8-489D-B8B3-AB2F200F70A9}" type="sibTrans" cxnId="{BC9D532A-442B-4FF4-927B-11E804A0C03B}">
      <dgm:prSet/>
      <dgm:spPr/>
      <dgm:t>
        <a:bodyPr/>
        <a:lstStyle/>
        <a:p>
          <a:endParaRPr lang="en-US"/>
        </a:p>
      </dgm:t>
    </dgm:pt>
    <dgm:pt modelId="{DC7C66B0-8AAE-4C05-A81A-A9EDE1DEA554}">
      <dgm:prSet/>
      <dgm:spPr/>
      <dgm:t>
        <a:bodyPr/>
        <a:lstStyle/>
        <a:p>
          <a:r>
            <a:rPr lang="en-US"/>
            <a:t>Fusion strategies:</a:t>
          </a:r>
        </a:p>
      </dgm:t>
    </dgm:pt>
    <dgm:pt modelId="{EF9C32BA-7171-4338-AFA7-6A9895052EED}" type="parTrans" cxnId="{88975779-3870-45C2-AB69-4E3C357481F7}">
      <dgm:prSet/>
      <dgm:spPr/>
      <dgm:t>
        <a:bodyPr/>
        <a:lstStyle/>
        <a:p>
          <a:endParaRPr lang="en-US"/>
        </a:p>
      </dgm:t>
    </dgm:pt>
    <dgm:pt modelId="{5EA62342-1474-4B1A-8355-EDBC9CE27E07}" type="sibTrans" cxnId="{88975779-3870-45C2-AB69-4E3C357481F7}">
      <dgm:prSet/>
      <dgm:spPr/>
      <dgm:t>
        <a:bodyPr/>
        <a:lstStyle/>
        <a:p>
          <a:endParaRPr lang="en-US"/>
        </a:p>
      </dgm:t>
    </dgm:pt>
    <dgm:pt modelId="{E82EA269-D8EA-4923-A5E9-CD1508FCD863}">
      <dgm:prSet/>
      <dgm:spPr/>
      <dgm:t>
        <a:bodyPr/>
        <a:lstStyle/>
        <a:p>
          <a:r>
            <a:rPr lang="en-US"/>
            <a:t>Option 1: Concatenation → MLP classifier</a:t>
          </a:r>
        </a:p>
      </dgm:t>
    </dgm:pt>
    <dgm:pt modelId="{3621A3AE-C4CF-4F6A-8958-9E37D7527351}" type="parTrans" cxnId="{1EA79DC0-7994-44C2-91BC-6ABB8C76857D}">
      <dgm:prSet/>
      <dgm:spPr/>
      <dgm:t>
        <a:bodyPr/>
        <a:lstStyle/>
        <a:p>
          <a:endParaRPr lang="en-US"/>
        </a:p>
      </dgm:t>
    </dgm:pt>
    <dgm:pt modelId="{C966FD74-AAB8-46E5-A842-1ECE607FAB66}" type="sibTrans" cxnId="{1EA79DC0-7994-44C2-91BC-6ABB8C76857D}">
      <dgm:prSet/>
      <dgm:spPr/>
      <dgm:t>
        <a:bodyPr/>
        <a:lstStyle/>
        <a:p>
          <a:endParaRPr lang="en-US"/>
        </a:p>
      </dgm:t>
    </dgm:pt>
    <dgm:pt modelId="{12AE606F-50C2-4F8A-B8BB-0733E5F0EEE1}">
      <dgm:prSet/>
      <dgm:spPr/>
      <dgm:t>
        <a:bodyPr/>
        <a:lstStyle/>
        <a:p>
          <a:r>
            <a:rPr lang="en-US"/>
            <a:t>Option 2: Attention gate → weighted sum → MLP classifier</a:t>
          </a:r>
        </a:p>
      </dgm:t>
    </dgm:pt>
    <dgm:pt modelId="{3BE4EE32-89CE-46B6-BDB5-D1C12E432673}" type="parTrans" cxnId="{50996CBC-E4F5-4A45-B0A2-72195003F9D6}">
      <dgm:prSet/>
      <dgm:spPr/>
      <dgm:t>
        <a:bodyPr/>
        <a:lstStyle/>
        <a:p>
          <a:endParaRPr lang="en-US"/>
        </a:p>
      </dgm:t>
    </dgm:pt>
    <dgm:pt modelId="{D8907E78-AC57-4823-B2D4-BD71CC229BFD}" type="sibTrans" cxnId="{50996CBC-E4F5-4A45-B0A2-72195003F9D6}">
      <dgm:prSet/>
      <dgm:spPr/>
      <dgm:t>
        <a:bodyPr/>
        <a:lstStyle/>
        <a:p>
          <a:endParaRPr lang="en-US"/>
        </a:p>
      </dgm:t>
    </dgm:pt>
    <dgm:pt modelId="{6BCDFD42-0A06-4631-93F0-B71FB192262B}">
      <dgm:prSet/>
      <dgm:spPr/>
      <dgm:t>
        <a:bodyPr/>
        <a:lstStyle/>
        <a:p>
          <a:r>
            <a:rPr lang="en-US"/>
            <a:t>Output: single logit → sigmoid → Fake/Real probability</a:t>
          </a:r>
        </a:p>
      </dgm:t>
    </dgm:pt>
    <dgm:pt modelId="{28574FAF-BC89-4543-B108-F7765A6918AD}" type="parTrans" cxnId="{24E4972E-7482-4D65-BC71-3C5647A82352}">
      <dgm:prSet/>
      <dgm:spPr/>
      <dgm:t>
        <a:bodyPr/>
        <a:lstStyle/>
        <a:p>
          <a:endParaRPr lang="en-US"/>
        </a:p>
      </dgm:t>
    </dgm:pt>
    <dgm:pt modelId="{DFA3C76B-E221-4474-A51E-D0E5744BA1A9}" type="sibTrans" cxnId="{24E4972E-7482-4D65-BC71-3C5647A82352}">
      <dgm:prSet/>
      <dgm:spPr/>
      <dgm:t>
        <a:bodyPr/>
        <a:lstStyle/>
        <a:p>
          <a:endParaRPr lang="en-US"/>
        </a:p>
      </dgm:t>
    </dgm:pt>
    <dgm:pt modelId="{43DDF2FB-AB17-4764-AD53-09EE67B73494}" type="pres">
      <dgm:prSet presAssocID="{8744551D-6740-4CC9-AB82-FC7A9E46E3F6}" presName="linear" presStyleCnt="0">
        <dgm:presLayoutVars>
          <dgm:animLvl val="lvl"/>
          <dgm:resizeHandles val="exact"/>
        </dgm:presLayoutVars>
      </dgm:prSet>
      <dgm:spPr/>
    </dgm:pt>
    <dgm:pt modelId="{2FE09C7E-EE97-444C-929A-85FD249F33A8}" type="pres">
      <dgm:prSet presAssocID="{061CC477-A256-4E31-9CEE-1137991FF650}" presName="parentText" presStyleLbl="node1" presStyleIdx="0" presStyleCnt="11">
        <dgm:presLayoutVars>
          <dgm:chMax val="0"/>
          <dgm:bulletEnabled val="1"/>
        </dgm:presLayoutVars>
      </dgm:prSet>
      <dgm:spPr/>
    </dgm:pt>
    <dgm:pt modelId="{4534656D-F150-4108-85C8-4EB52DEC042A}" type="pres">
      <dgm:prSet presAssocID="{5DC59B61-384C-4BD1-B08B-618F3C7F2ED1}" presName="spacer" presStyleCnt="0"/>
      <dgm:spPr/>
    </dgm:pt>
    <dgm:pt modelId="{FD90B904-D017-4B28-BD29-358F4378A819}" type="pres">
      <dgm:prSet presAssocID="{86C885D1-0A0F-4BF1-939F-FFB734554DD5}" presName="parentText" presStyleLbl="node1" presStyleIdx="1" presStyleCnt="11">
        <dgm:presLayoutVars>
          <dgm:chMax val="0"/>
          <dgm:bulletEnabled val="1"/>
        </dgm:presLayoutVars>
      </dgm:prSet>
      <dgm:spPr/>
    </dgm:pt>
    <dgm:pt modelId="{D94D203E-A393-4867-AAD6-D00C684BCD06}" type="pres">
      <dgm:prSet presAssocID="{1F329AD5-E5EA-4D93-A9A2-D8AF75A05518}" presName="spacer" presStyleCnt="0"/>
      <dgm:spPr/>
    </dgm:pt>
    <dgm:pt modelId="{B4A9D62F-EF02-43A6-871B-06B690745512}" type="pres">
      <dgm:prSet presAssocID="{AAEADA2D-3488-4F4F-8998-FF9082F78269}" presName="parentText" presStyleLbl="node1" presStyleIdx="2" presStyleCnt="11">
        <dgm:presLayoutVars>
          <dgm:chMax val="0"/>
          <dgm:bulletEnabled val="1"/>
        </dgm:presLayoutVars>
      </dgm:prSet>
      <dgm:spPr/>
    </dgm:pt>
    <dgm:pt modelId="{63C670B2-28C9-47A8-A6FD-719DAC23D84C}" type="pres">
      <dgm:prSet presAssocID="{9AF540A9-D389-461E-A348-66B688175B7F}" presName="spacer" presStyleCnt="0"/>
      <dgm:spPr/>
    </dgm:pt>
    <dgm:pt modelId="{18EF3AC2-6089-42AD-A7C0-1194992A7941}" type="pres">
      <dgm:prSet presAssocID="{0471CF12-9FD8-4621-8F5D-A1FBC221BFBE}" presName="parentText" presStyleLbl="node1" presStyleIdx="3" presStyleCnt="11">
        <dgm:presLayoutVars>
          <dgm:chMax val="0"/>
          <dgm:bulletEnabled val="1"/>
        </dgm:presLayoutVars>
      </dgm:prSet>
      <dgm:spPr/>
    </dgm:pt>
    <dgm:pt modelId="{154F2CCB-AC04-40C6-99FA-C22856BC2F81}" type="pres">
      <dgm:prSet presAssocID="{401A09C8-52F2-47CA-A703-F09200159CCA}" presName="spacer" presStyleCnt="0"/>
      <dgm:spPr/>
    </dgm:pt>
    <dgm:pt modelId="{D80F65DC-5617-4B4C-A70F-77A5DFC6F383}" type="pres">
      <dgm:prSet presAssocID="{A304D6AD-76C0-4287-9A1E-CDD26AD15E5C}" presName="parentText" presStyleLbl="node1" presStyleIdx="4" presStyleCnt="11">
        <dgm:presLayoutVars>
          <dgm:chMax val="0"/>
          <dgm:bulletEnabled val="1"/>
        </dgm:presLayoutVars>
      </dgm:prSet>
      <dgm:spPr/>
    </dgm:pt>
    <dgm:pt modelId="{1F9CA913-5BFA-4238-8D58-D3573688D9E0}" type="pres">
      <dgm:prSet presAssocID="{050425B0-5F67-4B31-B2FB-E2CD63C52414}" presName="spacer" presStyleCnt="0"/>
      <dgm:spPr/>
    </dgm:pt>
    <dgm:pt modelId="{078C3DBA-2856-4ED0-A48D-C57337C6F50B}" type="pres">
      <dgm:prSet presAssocID="{42CC9BB6-15FD-46B7-88F8-98FB3B9E18D3}" presName="parentText" presStyleLbl="node1" presStyleIdx="5" presStyleCnt="11">
        <dgm:presLayoutVars>
          <dgm:chMax val="0"/>
          <dgm:bulletEnabled val="1"/>
        </dgm:presLayoutVars>
      </dgm:prSet>
      <dgm:spPr/>
    </dgm:pt>
    <dgm:pt modelId="{F146DC3B-442D-4886-98C8-4FCA14325CB9}" type="pres">
      <dgm:prSet presAssocID="{E5053479-045B-4BD8-A432-8D035CC370F8}" presName="spacer" presStyleCnt="0"/>
      <dgm:spPr/>
    </dgm:pt>
    <dgm:pt modelId="{3FFDE64E-2F1C-4553-A735-CB676DBDF092}" type="pres">
      <dgm:prSet presAssocID="{7892B5C0-F713-49B8-95C3-4A9EB9537D90}" presName="parentText" presStyleLbl="node1" presStyleIdx="6" presStyleCnt="11">
        <dgm:presLayoutVars>
          <dgm:chMax val="0"/>
          <dgm:bulletEnabled val="1"/>
        </dgm:presLayoutVars>
      </dgm:prSet>
      <dgm:spPr/>
    </dgm:pt>
    <dgm:pt modelId="{49843A3F-B685-45CC-8E63-D2BD210BC00D}" type="pres">
      <dgm:prSet presAssocID="{4ADDEA49-D4B8-489D-B8B3-AB2F200F70A9}" presName="spacer" presStyleCnt="0"/>
      <dgm:spPr/>
    </dgm:pt>
    <dgm:pt modelId="{F7A2E626-189C-40AD-93F0-AFB270774618}" type="pres">
      <dgm:prSet presAssocID="{DC7C66B0-8AAE-4C05-A81A-A9EDE1DEA554}" presName="parentText" presStyleLbl="node1" presStyleIdx="7" presStyleCnt="11">
        <dgm:presLayoutVars>
          <dgm:chMax val="0"/>
          <dgm:bulletEnabled val="1"/>
        </dgm:presLayoutVars>
      </dgm:prSet>
      <dgm:spPr/>
    </dgm:pt>
    <dgm:pt modelId="{56EA0B0E-1BE2-45E5-BADC-B3A98C74EDA4}" type="pres">
      <dgm:prSet presAssocID="{5EA62342-1474-4B1A-8355-EDBC9CE27E07}" presName="spacer" presStyleCnt="0"/>
      <dgm:spPr/>
    </dgm:pt>
    <dgm:pt modelId="{BB85E870-4420-4104-BF62-DEB65B479527}" type="pres">
      <dgm:prSet presAssocID="{E82EA269-D8EA-4923-A5E9-CD1508FCD863}" presName="parentText" presStyleLbl="node1" presStyleIdx="8" presStyleCnt="11">
        <dgm:presLayoutVars>
          <dgm:chMax val="0"/>
          <dgm:bulletEnabled val="1"/>
        </dgm:presLayoutVars>
      </dgm:prSet>
      <dgm:spPr/>
    </dgm:pt>
    <dgm:pt modelId="{BD97DD35-B01A-4EB5-A43A-EF44A4A02AE0}" type="pres">
      <dgm:prSet presAssocID="{C966FD74-AAB8-46E5-A842-1ECE607FAB66}" presName="spacer" presStyleCnt="0"/>
      <dgm:spPr/>
    </dgm:pt>
    <dgm:pt modelId="{79C6CF36-E896-454A-BFEF-9C8FDA14AFD3}" type="pres">
      <dgm:prSet presAssocID="{12AE606F-50C2-4F8A-B8BB-0733E5F0EEE1}" presName="parentText" presStyleLbl="node1" presStyleIdx="9" presStyleCnt="11">
        <dgm:presLayoutVars>
          <dgm:chMax val="0"/>
          <dgm:bulletEnabled val="1"/>
        </dgm:presLayoutVars>
      </dgm:prSet>
      <dgm:spPr/>
    </dgm:pt>
    <dgm:pt modelId="{4FC6F030-E666-4C26-B742-1C0167382350}" type="pres">
      <dgm:prSet presAssocID="{D8907E78-AC57-4823-B2D4-BD71CC229BFD}" presName="spacer" presStyleCnt="0"/>
      <dgm:spPr/>
    </dgm:pt>
    <dgm:pt modelId="{98FA21FA-72AA-44D7-99ED-F035B913103D}" type="pres">
      <dgm:prSet presAssocID="{6BCDFD42-0A06-4631-93F0-B71FB192262B}" presName="parentText" presStyleLbl="node1" presStyleIdx="10" presStyleCnt="11">
        <dgm:presLayoutVars>
          <dgm:chMax val="0"/>
          <dgm:bulletEnabled val="1"/>
        </dgm:presLayoutVars>
      </dgm:prSet>
      <dgm:spPr/>
    </dgm:pt>
  </dgm:ptLst>
  <dgm:cxnLst>
    <dgm:cxn modelId="{ABF27601-3777-4578-9C44-B970CE305FF2}" srcId="{8744551D-6740-4CC9-AB82-FC7A9E46E3F6}" destId="{0471CF12-9FD8-4621-8F5D-A1FBC221BFBE}" srcOrd="3" destOrd="0" parTransId="{198F0759-BDBD-4263-9B52-80DF232DEF19}" sibTransId="{401A09C8-52F2-47CA-A703-F09200159CCA}"/>
    <dgm:cxn modelId="{62150408-DBE2-439C-855A-E451729F8CD6}" type="presOf" srcId="{0471CF12-9FD8-4621-8F5D-A1FBC221BFBE}" destId="{18EF3AC2-6089-42AD-A7C0-1194992A7941}" srcOrd="0" destOrd="0" presId="urn:microsoft.com/office/officeart/2005/8/layout/vList2"/>
    <dgm:cxn modelId="{39F9B817-BF5E-45C5-B7A8-A67BA9A35E95}" type="presOf" srcId="{DC7C66B0-8AAE-4C05-A81A-A9EDE1DEA554}" destId="{F7A2E626-189C-40AD-93F0-AFB270774618}" srcOrd="0" destOrd="0" presId="urn:microsoft.com/office/officeart/2005/8/layout/vList2"/>
    <dgm:cxn modelId="{BC9D532A-442B-4FF4-927B-11E804A0C03B}" srcId="{8744551D-6740-4CC9-AB82-FC7A9E46E3F6}" destId="{7892B5C0-F713-49B8-95C3-4A9EB9537D90}" srcOrd="6" destOrd="0" parTransId="{7AA1F604-B24F-455D-B8CE-D8FD6DD217F4}" sibTransId="{4ADDEA49-D4B8-489D-B8B3-AB2F200F70A9}"/>
    <dgm:cxn modelId="{24E4972E-7482-4D65-BC71-3C5647A82352}" srcId="{8744551D-6740-4CC9-AB82-FC7A9E46E3F6}" destId="{6BCDFD42-0A06-4631-93F0-B71FB192262B}" srcOrd="10" destOrd="0" parTransId="{28574FAF-BC89-4543-B108-F7765A6918AD}" sibTransId="{DFA3C76B-E221-4474-A51E-D0E5744BA1A9}"/>
    <dgm:cxn modelId="{62B3F53F-FE26-44C4-9E44-56AEAF1612D1}" type="presOf" srcId="{061CC477-A256-4E31-9CEE-1137991FF650}" destId="{2FE09C7E-EE97-444C-929A-85FD249F33A8}" srcOrd="0" destOrd="0" presId="urn:microsoft.com/office/officeart/2005/8/layout/vList2"/>
    <dgm:cxn modelId="{7279245F-140D-4416-8DEC-346E9FB09854}" type="presOf" srcId="{AAEADA2D-3488-4F4F-8998-FF9082F78269}" destId="{B4A9D62F-EF02-43A6-871B-06B690745512}" srcOrd="0" destOrd="0" presId="urn:microsoft.com/office/officeart/2005/8/layout/vList2"/>
    <dgm:cxn modelId="{F5901B46-3AC3-4687-801A-E069C0B22227}" type="presOf" srcId="{8744551D-6740-4CC9-AB82-FC7A9E46E3F6}" destId="{43DDF2FB-AB17-4764-AD53-09EE67B73494}" srcOrd="0" destOrd="0" presId="urn:microsoft.com/office/officeart/2005/8/layout/vList2"/>
    <dgm:cxn modelId="{DB58DD4E-BB64-4CA6-B3D9-A2C3899E8590}" type="presOf" srcId="{42CC9BB6-15FD-46B7-88F8-98FB3B9E18D3}" destId="{078C3DBA-2856-4ED0-A48D-C57337C6F50B}" srcOrd="0" destOrd="0" presId="urn:microsoft.com/office/officeart/2005/8/layout/vList2"/>
    <dgm:cxn modelId="{07195573-3A61-4671-826B-B5BB9C081640}" srcId="{8744551D-6740-4CC9-AB82-FC7A9E46E3F6}" destId="{86C885D1-0A0F-4BF1-939F-FFB734554DD5}" srcOrd="1" destOrd="0" parTransId="{98CC34A8-339A-4C84-B91C-C56019567046}" sibTransId="{1F329AD5-E5EA-4D93-A9A2-D8AF75A05518}"/>
    <dgm:cxn modelId="{88975779-3870-45C2-AB69-4E3C357481F7}" srcId="{8744551D-6740-4CC9-AB82-FC7A9E46E3F6}" destId="{DC7C66B0-8AAE-4C05-A81A-A9EDE1DEA554}" srcOrd="7" destOrd="0" parTransId="{EF9C32BA-7171-4338-AFA7-6A9895052EED}" sibTransId="{5EA62342-1474-4B1A-8355-EDBC9CE27E07}"/>
    <dgm:cxn modelId="{50A9B0A6-D608-4F50-B09D-EC59C7646C7A}" type="presOf" srcId="{E82EA269-D8EA-4923-A5E9-CD1508FCD863}" destId="{BB85E870-4420-4104-BF62-DEB65B479527}" srcOrd="0" destOrd="0" presId="urn:microsoft.com/office/officeart/2005/8/layout/vList2"/>
    <dgm:cxn modelId="{467C0CAA-7E9A-4FC2-8CB6-2D80D90DAED2}" type="presOf" srcId="{86C885D1-0A0F-4BF1-939F-FFB734554DD5}" destId="{FD90B904-D017-4B28-BD29-358F4378A819}" srcOrd="0" destOrd="0" presId="urn:microsoft.com/office/officeart/2005/8/layout/vList2"/>
    <dgm:cxn modelId="{D32EADAE-7D2B-4948-B4B2-939835D4E6AC}" type="presOf" srcId="{6BCDFD42-0A06-4631-93F0-B71FB192262B}" destId="{98FA21FA-72AA-44D7-99ED-F035B913103D}" srcOrd="0" destOrd="0" presId="urn:microsoft.com/office/officeart/2005/8/layout/vList2"/>
    <dgm:cxn modelId="{50996CBC-E4F5-4A45-B0A2-72195003F9D6}" srcId="{8744551D-6740-4CC9-AB82-FC7A9E46E3F6}" destId="{12AE606F-50C2-4F8A-B8BB-0733E5F0EEE1}" srcOrd="9" destOrd="0" parTransId="{3BE4EE32-89CE-46B6-BDB5-D1C12E432673}" sibTransId="{D8907E78-AC57-4823-B2D4-BD71CC229BFD}"/>
    <dgm:cxn modelId="{687ECDBF-3DA3-4714-9B34-E2CFD97B94EF}" srcId="{8744551D-6740-4CC9-AB82-FC7A9E46E3F6}" destId="{42CC9BB6-15FD-46B7-88F8-98FB3B9E18D3}" srcOrd="5" destOrd="0" parTransId="{FF89F854-8BF6-4D24-9A34-AB6E7174039D}" sibTransId="{E5053479-045B-4BD8-A432-8D035CC370F8}"/>
    <dgm:cxn modelId="{1EA79DC0-7994-44C2-91BC-6ABB8C76857D}" srcId="{8744551D-6740-4CC9-AB82-FC7A9E46E3F6}" destId="{E82EA269-D8EA-4923-A5E9-CD1508FCD863}" srcOrd="8" destOrd="0" parTransId="{3621A3AE-C4CF-4F6A-8958-9E37D7527351}" sibTransId="{C966FD74-AAB8-46E5-A842-1ECE607FAB66}"/>
    <dgm:cxn modelId="{C033A6C7-C059-4C7E-8F30-E723CBF1B58D}" srcId="{8744551D-6740-4CC9-AB82-FC7A9E46E3F6}" destId="{AAEADA2D-3488-4F4F-8998-FF9082F78269}" srcOrd="2" destOrd="0" parTransId="{7D5A60B3-D86D-4102-AB13-2DA8EFD9099C}" sibTransId="{9AF540A9-D389-461E-A348-66B688175B7F}"/>
    <dgm:cxn modelId="{C184A5CB-0AA3-4BB2-8041-C422B9E027E3}" type="presOf" srcId="{12AE606F-50C2-4F8A-B8BB-0733E5F0EEE1}" destId="{79C6CF36-E896-454A-BFEF-9C8FDA14AFD3}" srcOrd="0" destOrd="0" presId="urn:microsoft.com/office/officeart/2005/8/layout/vList2"/>
    <dgm:cxn modelId="{6AE441D3-950B-4F93-BEF0-68AF2012554A}" type="presOf" srcId="{A304D6AD-76C0-4287-9A1E-CDD26AD15E5C}" destId="{D80F65DC-5617-4B4C-A70F-77A5DFC6F383}" srcOrd="0" destOrd="0" presId="urn:microsoft.com/office/officeart/2005/8/layout/vList2"/>
    <dgm:cxn modelId="{38512DE1-376C-4FA0-9ACD-BCA1AE9972B1}" srcId="{8744551D-6740-4CC9-AB82-FC7A9E46E3F6}" destId="{A304D6AD-76C0-4287-9A1E-CDD26AD15E5C}" srcOrd="4" destOrd="0" parTransId="{7DB78367-0D8E-43D8-9BF2-6C29B16E6577}" sibTransId="{050425B0-5F67-4B31-B2FB-E2CD63C52414}"/>
    <dgm:cxn modelId="{601F59F6-9A2F-461D-8520-3B30AD49EF34}" srcId="{8744551D-6740-4CC9-AB82-FC7A9E46E3F6}" destId="{061CC477-A256-4E31-9CEE-1137991FF650}" srcOrd="0" destOrd="0" parTransId="{E87C90E4-66F3-4559-8750-31630A78A328}" sibTransId="{5DC59B61-384C-4BD1-B08B-618F3C7F2ED1}"/>
    <dgm:cxn modelId="{EAB006F9-7E4D-4C7D-ACAD-DCD37F389E4C}" type="presOf" srcId="{7892B5C0-F713-49B8-95C3-4A9EB9537D90}" destId="{3FFDE64E-2F1C-4553-A735-CB676DBDF092}" srcOrd="0" destOrd="0" presId="urn:microsoft.com/office/officeart/2005/8/layout/vList2"/>
    <dgm:cxn modelId="{6E2A8AD1-8C2F-4E07-B12B-4F4095AEF74B}" type="presParOf" srcId="{43DDF2FB-AB17-4764-AD53-09EE67B73494}" destId="{2FE09C7E-EE97-444C-929A-85FD249F33A8}" srcOrd="0" destOrd="0" presId="urn:microsoft.com/office/officeart/2005/8/layout/vList2"/>
    <dgm:cxn modelId="{298CFB22-DEC1-4549-9894-8294251233C8}" type="presParOf" srcId="{43DDF2FB-AB17-4764-AD53-09EE67B73494}" destId="{4534656D-F150-4108-85C8-4EB52DEC042A}" srcOrd="1" destOrd="0" presId="urn:microsoft.com/office/officeart/2005/8/layout/vList2"/>
    <dgm:cxn modelId="{0C22CE20-5478-415A-BC61-FFB2F5DCE5FF}" type="presParOf" srcId="{43DDF2FB-AB17-4764-AD53-09EE67B73494}" destId="{FD90B904-D017-4B28-BD29-358F4378A819}" srcOrd="2" destOrd="0" presId="urn:microsoft.com/office/officeart/2005/8/layout/vList2"/>
    <dgm:cxn modelId="{6AC6BED9-E235-4BA3-9039-5FD5E4F92301}" type="presParOf" srcId="{43DDF2FB-AB17-4764-AD53-09EE67B73494}" destId="{D94D203E-A393-4867-AAD6-D00C684BCD06}" srcOrd="3" destOrd="0" presId="urn:microsoft.com/office/officeart/2005/8/layout/vList2"/>
    <dgm:cxn modelId="{BC3797C8-10E7-41EA-AA9F-9BE3D77F01C7}" type="presParOf" srcId="{43DDF2FB-AB17-4764-AD53-09EE67B73494}" destId="{B4A9D62F-EF02-43A6-871B-06B690745512}" srcOrd="4" destOrd="0" presId="urn:microsoft.com/office/officeart/2005/8/layout/vList2"/>
    <dgm:cxn modelId="{5A01451E-7B63-47B6-BA4F-5065B001BC74}" type="presParOf" srcId="{43DDF2FB-AB17-4764-AD53-09EE67B73494}" destId="{63C670B2-28C9-47A8-A6FD-719DAC23D84C}" srcOrd="5" destOrd="0" presId="urn:microsoft.com/office/officeart/2005/8/layout/vList2"/>
    <dgm:cxn modelId="{54281A44-05C7-4210-860C-45FC8D14B89A}" type="presParOf" srcId="{43DDF2FB-AB17-4764-AD53-09EE67B73494}" destId="{18EF3AC2-6089-42AD-A7C0-1194992A7941}" srcOrd="6" destOrd="0" presId="urn:microsoft.com/office/officeart/2005/8/layout/vList2"/>
    <dgm:cxn modelId="{8A71AAC7-4DB6-4679-8A97-D227F7D64F57}" type="presParOf" srcId="{43DDF2FB-AB17-4764-AD53-09EE67B73494}" destId="{154F2CCB-AC04-40C6-99FA-C22856BC2F81}" srcOrd="7" destOrd="0" presId="urn:microsoft.com/office/officeart/2005/8/layout/vList2"/>
    <dgm:cxn modelId="{340E54A3-D384-4E3D-B111-69E4E8324BAD}" type="presParOf" srcId="{43DDF2FB-AB17-4764-AD53-09EE67B73494}" destId="{D80F65DC-5617-4B4C-A70F-77A5DFC6F383}" srcOrd="8" destOrd="0" presId="urn:microsoft.com/office/officeart/2005/8/layout/vList2"/>
    <dgm:cxn modelId="{C44F4FE8-7306-49D3-AF5B-CB4012C9B948}" type="presParOf" srcId="{43DDF2FB-AB17-4764-AD53-09EE67B73494}" destId="{1F9CA913-5BFA-4238-8D58-D3573688D9E0}" srcOrd="9" destOrd="0" presId="urn:microsoft.com/office/officeart/2005/8/layout/vList2"/>
    <dgm:cxn modelId="{ECF9B673-4401-4ED8-B61F-AF343BFE005A}" type="presParOf" srcId="{43DDF2FB-AB17-4764-AD53-09EE67B73494}" destId="{078C3DBA-2856-4ED0-A48D-C57337C6F50B}" srcOrd="10" destOrd="0" presId="urn:microsoft.com/office/officeart/2005/8/layout/vList2"/>
    <dgm:cxn modelId="{7B2F4555-5FA5-4C9A-B2F8-4B8E0B30BC4B}" type="presParOf" srcId="{43DDF2FB-AB17-4764-AD53-09EE67B73494}" destId="{F146DC3B-442D-4886-98C8-4FCA14325CB9}" srcOrd="11" destOrd="0" presId="urn:microsoft.com/office/officeart/2005/8/layout/vList2"/>
    <dgm:cxn modelId="{D7DD19E1-ABA3-40F9-9D07-A59AE2AA355C}" type="presParOf" srcId="{43DDF2FB-AB17-4764-AD53-09EE67B73494}" destId="{3FFDE64E-2F1C-4553-A735-CB676DBDF092}" srcOrd="12" destOrd="0" presId="urn:microsoft.com/office/officeart/2005/8/layout/vList2"/>
    <dgm:cxn modelId="{C844D655-5C87-4448-8CB8-ADFF27E7A8DC}" type="presParOf" srcId="{43DDF2FB-AB17-4764-AD53-09EE67B73494}" destId="{49843A3F-B685-45CC-8E63-D2BD210BC00D}" srcOrd="13" destOrd="0" presId="urn:microsoft.com/office/officeart/2005/8/layout/vList2"/>
    <dgm:cxn modelId="{5EDE353E-73DE-4AEE-8EAD-A8FD5CD5A343}" type="presParOf" srcId="{43DDF2FB-AB17-4764-AD53-09EE67B73494}" destId="{F7A2E626-189C-40AD-93F0-AFB270774618}" srcOrd="14" destOrd="0" presId="urn:microsoft.com/office/officeart/2005/8/layout/vList2"/>
    <dgm:cxn modelId="{297DD817-D801-4B0A-984B-4DC2ECCAAEA2}" type="presParOf" srcId="{43DDF2FB-AB17-4764-AD53-09EE67B73494}" destId="{56EA0B0E-1BE2-45E5-BADC-B3A98C74EDA4}" srcOrd="15" destOrd="0" presId="urn:microsoft.com/office/officeart/2005/8/layout/vList2"/>
    <dgm:cxn modelId="{65D1C03E-04A3-446B-83E6-8C3D28B6C6BB}" type="presParOf" srcId="{43DDF2FB-AB17-4764-AD53-09EE67B73494}" destId="{BB85E870-4420-4104-BF62-DEB65B479527}" srcOrd="16" destOrd="0" presId="urn:microsoft.com/office/officeart/2005/8/layout/vList2"/>
    <dgm:cxn modelId="{B529F28E-5177-419E-B5E6-1A521A646AC0}" type="presParOf" srcId="{43DDF2FB-AB17-4764-AD53-09EE67B73494}" destId="{BD97DD35-B01A-4EB5-A43A-EF44A4A02AE0}" srcOrd="17" destOrd="0" presId="urn:microsoft.com/office/officeart/2005/8/layout/vList2"/>
    <dgm:cxn modelId="{E33A50F0-E7DA-49DA-8AC6-FDEAD8C98DFA}" type="presParOf" srcId="{43DDF2FB-AB17-4764-AD53-09EE67B73494}" destId="{79C6CF36-E896-454A-BFEF-9C8FDA14AFD3}" srcOrd="18" destOrd="0" presId="urn:microsoft.com/office/officeart/2005/8/layout/vList2"/>
    <dgm:cxn modelId="{2D944158-870C-45B8-8BE9-9C6D68A828A4}" type="presParOf" srcId="{43DDF2FB-AB17-4764-AD53-09EE67B73494}" destId="{4FC6F030-E666-4C26-B742-1C0167382350}" srcOrd="19" destOrd="0" presId="urn:microsoft.com/office/officeart/2005/8/layout/vList2"/>
    <dgm:cxn modelId="{1F681146-0575-4267-A79B-94F1A4E19338}" type="presParOf" srcId="{43DDF2FB-AB17-4764-AD53-09EE67B73494}" destId="{98FA21FA-72AA-44D7-99ED-F035B913103D}" srcOrd="2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093DBA-4450-4A04-8F09-AE376C30860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1F90833-A802-4FA9-8953-606AD327E36B}">
      <dgm:prSet/>
      <dgm:spPr/>
      <dgm:t>
        <a:bodyPr/>
        <a:lstStyle/>
        <a:p>
          <a:r>
            <a:rPr lang="en-US" b="1"/>
            <a:t>Surprise 1: Frequency model near-random (46.5%)</a:t>
          </a:r>
          <a:endParaRPr lang="en-US"/>
        </a:p>
      </dgm:t>
    </dgm:pt>
    <dgm:pt modelId="{D75BA279-FC5C-4066-8CD5-615DB5B3D650}" type="parTrans" cxnId="{B2A1293A-D90E-4277-82BA-699C0F5879E6}">
      <dgm:prSet/>
      <dgm:spPr/>
      <dgm:t>
        <a:bodyPr/>
        <a:lstStyle/>
        <a:p>
          <a:endParaRPr lang="en-US"/>
        </a:p>
      </dgm:t>
    </dgm:pt>
    <dgm:pt modelId="{2A3F7E96-74C0-4496-A0F6-CD0232402E89}" type="sibTrans" cxnId="{B2A1293A-D90E-4277-82BA-699C0F5879E6}">
      <dgm:prSet/>
      <dgm:spPr/>
      <dgm:t>
        <a:bodyPr/>
        <a:lstStyle/>
        <a:p>
          <a:endParaRPr lang="en-US"/>
        </a:p>
      </dgm:t>
    </dgm:pt>
    <dgm:pt modelId="{86510446-EBDE-4266-AA2E-DFB698E2DA5E}">
      <dgm:prSet/>
      <dgm:spPr/>
      <dgm:t>
        <a:bodyPr/>
        <a:lstStyle/>
        <a:p>
          <a:r>
            <a:rPr lang="en-US"/>
            <a:t>Contradicts common assumption that FFT is universally informative</a:t>
          </a:r>
        </a:p>
      </dgm:t>
    </dgm:pt>
    <dgm:pt modelId="{FA4B6DDA-8B24-4209-8AD6-8576D9717973}" type="parTrans" cxnId="{C2DFD851-46B0-412B-B017-5EB319CF6457}">
      <dgm:prSet/>
      <dgm:spPr/>
      <dgm:t>
        <a:bodyPr/>
        <a:lstStyle/>
        <a:p>
          <a:endParaRPr lang="en-US"/>
        </a:p>
      </dgm:t>
    </dgm:pt>
    <dgm:pt modelId="{9FFAF31E-B618-4A5F-A5F1-1598FB3A9CE8}" type="sibTrans" cxnId="{C2DFD851-46B0-412B-B017-5EB319CF6457}">
      <dgm:prSet/>
      <dgm:spPr/>
      <dgm:t>
        <a:bodyPr/>
        <a:lstStyle/>
        <a:p>
          <a:endParaRPr lang="en-US"/>
        </a:p>
      </dgm:t>
    </dgm:pt>
    <dgm:pt modelId="{196E339B-EE0B-40AD-A507-96A5084A5297}">
      <dgm:prSet/>
      <dgm:spPr/>
      <dgm:t>
        <a:bodyPr/>
        <a:lstStyle/>
        <a:p>
          <a:r>
            <a:rPr lang="en-US"/>
            <a:t>Hypothesis: C23 compression quantizes frequency domain, masking artifacts</a:t>
          </a:r>
        </a:p>
      </dgm:t>
    </dgm:pt>
    <dgm:pt modelId="{ED0BB95A-5701-4399-A2E7-85A651F7AB8F}" type="parTrans" cxnId="{31BAE7E7-4F90-4847-A40F-D3A6CDA00738}">
      <dgm:prSet/>
      <dgm:spPr/>
      <dgm:t>
        <a:bodyPr/>
        <a:lstStyle/>
        <a:p>
          <a:endParaRPr lang="en-US"/>
        </a:p>
      </dgm:t>
    </dgm:pt>
    <dgm:pt modelId="{B962FB9B-3124-4FA0-84AC-E7745D9A9178}" type="sibTrans" cxnId="{31BAE7E7-4F90-4847-A40F-D3A6CDA00738}">
      <dgm:prSet/>
      <dgm:spPr/>
      <dgm:t>
        <a:bodyPr/>
        <a:lstStyle/>
        <a:p>
          <a:endParaRPr lang="en-US"/>
        </a:p>
      </dgm:t>
    </dgm:pt>
    <dgm:pt modelId="{E0C202AD-9481-4D80-A0BF-EC3C690AC441}">
      <dgm:prSet/>
      <dgm:spPr/>
      <dgm:t>
        <a:bodyPr/>
        <a:lstStyle/>
        <a:p>
          <a:r>
            <a:rPr lang="en-US"/>
            <a:t>Prediction: would perform much better on uncompressed/lightly compressed media</a:t>
          </a:r>
        </a:p>
      </dgm:t>
    </dgm:pt>
    <dgm:pt modelId="{7E59E840-D550-4EF9-97BA-32E906209E37}" type="parTrans" cxnId="{C039046F-618F-4BAD-AC02-DE428EC591E2}">
      <dgm:prSet/>
      <dgm:spPr/>
      <dgm:t>
        <a:bodyPr/>
        <a:lstStyle/>
        <a:p>
          <a:endParaRPr lang="en-US"/>
        </a:p>
      </dgm:t>
    </dgm:pt>
    <dgm:pt modelId="{82FE928E-3BE9-45B4-92B2-BAC7FE66F596}" type="sibTrans" cxnId="{C039046F-618F-4BAD-AC02-DE428EC591E2}">
      <dgm:prSet/>
      <dgm:spPr/>
      <dgm:t>
        <a:bodyPr/>
        <a:lstStyle/>
        <a:p>
          <a:endParaRPr lang="en-US"/>
        </a:p>
      </dgm:t>
    </dgm:pt>
    <dgm:pt modelId="{C90F2C69-B90E-4DB7-B1C9-9E40E51B1170}">
      <dgm:prSet/>
      <dgm:spPr/>
      <dgm:t>
        <a:bodyPr/>
        <a:lstStyle/>
        <a:p>
          <a:r>
            <a:rPr lang="en-US" b="1"/>
            <a:t>Surprise 2: Concat fusion &lt; spatial baseline</a:t>
          </a:r>
          <a:endParaRPr lang="en-US"/>
        </a:p>
      </dgm:t>
    </dgm:pt>
    <dgm:pt modelId="{13A73D63-8555-49F3-A964-FB80372BB85A}" type="parTrans" cxnId="{16C1B80B-7B4D-4B49-BF03-CF60C3E8D7B2}">
      <dgm:prSet/>
      <dgm:spPr/>
      <dgm:t>
        <a:bodyPr/>
        <a:lstStyle/>
        <a:p>
          <a:endParaRPr lang="en-US"/>
        </a:p>
      </dgm:t>
    </dgm:pt>
    <dgm:pt modelId="{3F809819-E1B6-49EC-93B1-E4F00E459B41}" type="sibTrans" cxnId="{16C1B80B-7B4D-4B49-BF03-CF60C3E8D7B2}">
      <dgm:prSet/>
      <dgm:spPr/>
      <dgm:t>
        <a:bodyPr/>
        <a:lstStyle/>
        <a:p>
          <a:endParaRPr lang="en-US"/>
        </a:p>
      </dgm:t>
    </dgm:pt>
    <dgm:pt modelId="{21455AD1-B3EB-4DAC-B060-32B220EF57C0}">
      <dgm:prSet/>
      <dgm:spPr/>
      <dgm:t>
        <a:bodyPr/>
        <a:lstStyle/>
        <a:p>
          <a:r>
            <a:rPr lang="en-US"/>
            <a:t>Counterintuitive: why does adding information hurt?</a:t>
          </a:r>
        </a:p>
      </dgm:t>
    </dgm:pt>
    <dgm:pt modelId="{05B0880C-2BF7-46F1-B6D3-E7AA1C4BBD94}" type="parTrans" cxnId="{26B59B33-70E9-4251-ABBE-6D33E9DC10A2}">
      <dgm:prSet/>
      <dgm:spPr/>
      <dgm:t>
        <a:bodyPr/>
        <a:lstStyle/>
        <a:p>
          <a:endParaRPr lang="en-US"/>
        </a:p>
      </dgm:t>
    </dgm:pt>
    <dgm:pt modelId="{897BC673-2C2C-43AA-BD38-07D7A0924CF6}" type="sibTrans" cxnId="{26B59B33-70E9-4251-ABBE-6D33E9DC10A2}">
      <dgm:prSet/>
      <dgm:spPr/>
      <dgm:t>
        <a:bodyPr/>
        <a:lstStyle/>
        <a:p>
          <a:endParaRPr lang="en-US"/>
        </a:p>
      </dgm:t>
    </dgm:pt>
    <dgm:pt modelId="{846BBA47-5C36-4B6F-97A2-730C851EECC0}">
      <dgm:prSet/>
      <dgm:spPr/>
      <dgm:t>
        <a:bodyPr/>
        <a:lstStyle/>
        <a:p>
          <a:r>
            <a:rPr lang="en-US"/>
            <a:t>Explanation: 128-dim vector with 64 dims of noise dilutes classifier capacity</a:t>
          </a:r>
        </a:p>
      </dgm:t>
    </dgm:pt>
    <dgm:pt modelId="{D50F12EF-EB9C-412C-90DB-3F2F10E74D08}" type="parTrans" cxnId="{B3468575-D600-4930-8D56-8E0B94D33E3B}">
      <dgm:prSet/>
      <dgm:spPr/>
      <dgm:t>
        <a:bodyPr/>
        <a:lstStyle/>
        <a:p>
          <a:endParaRPr lang="en-US"/>
        </a:p>
      </dgm:t>
    </dgm:pt>
    <dgm:pt modelId="{5B1378A0-F795-4C21-BD3D-41478DFE7013}" type="sibTrans" cxnId="{B3468575-D600-4930-8D56-8E0B94D33E3B}">
      <dgm:prSet/>
      <dgm:spPr/>
      <dgm:t>
        <a:bodyPr/>
        <a:lstStyle/>
        <a:p>
          <a:endParaRPr lang="en-US"/>
        </a:p>
      </dgm:t>
    </dgm:pt>
    <dgm:pt modelId="{9F866966-3115-4BE1-9838-9153BE47173B}">
      <dgm:prSet/>
      <dgm:spPr/>
      <dgm:t>
        <a:bodyPr/>
        <a:lstStyle/>
        <a:p>
          <a:r>
            <a:rPr lang="en-US"/>
            <a:t>Attention gate solves this by learning to suppress uninformative branch</a:t>
          </a:r>
        </a:p>
      </dgm:t>
    </dgm:pt>
    <dgm:pt modelId="{CF0C732D-1472-4551-8F7C-B0E3C0F4DE85}" type="parTrans" cxnId="{A6594547-87EF-4963-A4BA-FCB9EA864C65}">
      <dgm:prSet/>
      <dgm:spPr/>
      <dgm:t>
        <a:bodyPr/>
        <a:lstStyle/>
        <a:p>
          <a:endParaRPr lang="en-US"/>
        </a:p>
      </dgm:t>
    </dgm:pt>
    <dgm:pt modelId="{8F72BE7E-3042-4EB9-A466-17F38AC5719C}" type="sibTrans" cxnId="{A6594547-87EF-4963-A4BA-FCB9EA864C65}">
      <dgm:prSet/>
      <dgm:spPr/>
      <dgm:t>
        <a:bodyPr/>
        <a:lstStyle/>
        <a:p>
          <a:endParaRPr lang="en-US"/>
        </a:p>
      </dgm:t>
    </dgm:pt>
    <dgm:pt modelId="{435E1910-86F6-4D54-B18E-F1DACDAA194D}">
      <dgm:prSet/>
      <dgm:spPr/>
      <dgm:t>
        <a:bodyPr/>
        <a:lstStyle/>
        <a:p>
          <a:r>
            <a:rPr lang="en-US" b="1"/>
            <a:t>Implication</a:t>
          </a:r>
          <a:r>
            <a:rPr lang="en-US"/>
            <a:t>: domain fusion must be paired with gating; naive approaches backfire</a:t>
          </a:r>
        </a:p>
      </dgm:t>
    </dgm:pt>
    <dgm:pt modelId="{D91B9330-AF7C-4A18-81B1-8E979063CC59}" type="parTrans" cxnId="{CAD09EA3-20CA-466F-B593-4C93755337B8}">
      <dgm:prSet/>
      <dgm:spPr/>
      <dgm:t>
        <a:bodyPr/>
        <a:lstStyle/>
        <a:p>
          <a:endParaRPr lang="en-US"/>
        </a:p>
      </dgm:t>
    </dgm:pt>
    <dgm:pt modelId="{01B656B0-EA02-4AA3-A82C-A4FA49AE4D63}" type="sibTrans" cxnId="{CAD09EA3-20CA-466F-B593-4C93755337B8}">
      <dgm:prSet/>
      <dgm:spPr/>
      <dgm:t>
        <a:bodyPr/>
        <a:lstStyle/>
        <a:p>
          <a:endParaRPr lang="en-US"/>
        </a:p>
      </dgm:t>
    </dgm:pt>
    <dgm:pt modelId="{C58CDBA8-CD59-498D-8A08-A8BB7722B5A9}" type="pres">
      <dgm:prSet presAssocID="{C4093DBA-4450-4A04-8F09-AE376C30860B}" presName="diagram" presStyleCnt="0">
        <dgm:presLayoutVars>
          <dgm:dir/>
          <dgm:resizeHandles val="exact"/>
        </dgm:presLayoutVars>
      </dgm:prSet>
      <dgm:spPr/>
    </dgm:pt>
    <dgm:pt modelId="{0509E983-8198-46D8-8798-7EB63A71F5E6}" type="pres">
      <dgm:prSet presAssocID="{31F90833-A802-4FA9-8953-606AD327E36B}" presName="node" presStyleLbl="node1" presStyleIdx="0" presStyleCnt="9">
        <dgm:presLayoutVars>
          <dgm:bulletEnabled val="1"/>
        </dgm:presLayoutVars>
      </dgm:prSet>
      <dgm:spPr/>
    </dgm:pt>
    <dgm:pt modelId="{DBDF8F7C-C9A9-424E-B6C6-C24E535C546D}" type="pres">
      <dgm:prSet presAssocID="{2A3F7E96-74C0-4496-A0F6-CD0232402E89}" presName="sibTrans" presStyleCnt="0"/>
      <dgm:spPr/>
    </dgm:pt>
    <dgm:pt modelId="{44DF7EA4-D4E7-4CAC-9EC9-EC7280B9EE40}" type="pres">
      <dgm:prSet presAssocID="{86510446-EBDE-4266-AA2E-DFB698E2DA5E}" presName="node" presStyleLbl="node1" presStyleIdx="1" presStyleCnt="9">
        <dgm:presLayoutVars>
          <dgm:bulletEnabled val="1"/>
        </dgm:presLayoutVars>
      </dgm:prSet>
      <dgm:spPr/>
    </dgm:pt>
    <dgm:pt modelId="{7EEC6AB9-B57A-4FF9-909B-A06622539618}" type="pres">
      <dgm:prSet presAssocID="{9FFAF31E-B618-4A5F-A5F1-1598FB3A9CE8}" presName="sibTrans" presStyleCnt="0"/>
      <dgm:spPr/>
    </dgm:pt>
    <dgm:pt modelId="{BB6901AB-2B52-4995-A133-BB9C917AC3BA}" type="pres">
      <dgm:prSet presAssocID="{196E339B-EE0B-40AD-A507-96A5084A5297}" presName="node" presStyleLbl="node1" presStyleIdx="2" presStyleCnt="9">
        <dgm:presLayoutVars>
          <dgm:bulletEnabled val="1"/>
        </dgm:presLayoutVars>
      </dgm:prSet>
      <dgm:spPr/>
    </dgm:pt>
    <dgm:pt modelId="{914D0D0D-A4BB-49B7-83E6-0139F3C20710}" type="pres">
      <dgm:prSet presAssocID="{B962FB9B-3124-4FA0-84AC-E7745D9A9178}" presName="sibTrans" presStyleCnt="0"/>
      <dgm:spPr/>
    </dgm:pt>
    <dgm:pt modelId="{BED936D5-B3C7-4994-9941-81FF77415B3E}" type="pres">
      <dgm:prSet presAssocID="{E0C202AD-9481-4D80-A0BF-EC3C690AC441}" presName="node" presStyleLbl="node1" presStyleIdx="3" presStyleCnt="9">
        <dgm:presLayoutVars>
          <dgm:bulletEnabled val="1"/>
        </dgm:presLayoutVars>
      </dgm:prSet>
      <dgm:spPr/>
    </dgm:pt>
    <dgm:pt modelId="{4B8CE192-F30E-4AD1-AB8D-8E98D3550AB9}" type="pres">
      <dgm:prSet presAssocID="{82FE928E-3BE9-45B4-92B2-BAC7FE66F596}" presName="sibTrans" presStyleCnt="0"/>
      <dgm:spPr/>
    </dgm:pt>
    <dgm:pt modelId="{7525B129-1D3E-4662-932D-8F61F504BD0C}" type="pres">
      <dgm:prSet presAssocID="{C90F2C69-B90E-4DB7-B1C9-9E40E51B1170}" presName="node" presStyleLbl="node1" presStyleIdx="4" presStyleCnt="9">
        <dgm:presLayoutVars>
          <dgm:bulletEnabled val="1"/>
        </dgm:presLayoutVars>
      </dgm:prSet>
      <dgm:spPr/>
    </dgm:pt>
    <dgm:pt modelId="{4AD37752-6012-409C-8F97-BC3903953DCC}" type="pres">
      <dgm:prSet presAssocID="{3F809819-E1B6-49EC-93B1-E4F00E459B41}" presName="sibTrans" presStyleCnt="0"/>
      <dgm:spPr/>
    </dgm:pt>
    <dgm:pt modelId="{53CC8F3A-1680-4888-BFC7-178077B415D9}" type="pres">
      <dgm:prSet presAssocID="{21455AD1-B3EB-4DAC-B060-32B220EF57C0}" presName="node" presStyleLbl="node1" presStyleIdx="5" presStyleCnt="9">
        <dgm:presLayoutVars>
          <dgm:bulletEnabled val="1"/>
        </dgm:presLayoutVars>
      </dgm:prSet>
      <dgm:spPr/>
    </dgm:pt>
    <dgm:pt modelId="{D71BBC6C-47D7-417E-B988-F3F115F02965}" type="pres">
      <dgm:prSet presAssocID="{897BC673-2C2C-43AA-BD38-07D7A0924CF6}" presName="sibTrans" presStyleCnt="0"/>
      <dgm:spPr/>
    </dgm:pt>
    <dgm:pt modelId="{B07178D5-DD86-41BD-80EB-5016406C1687}" type="pres">
      <dgm:prSet presAssocID="{846BBA47-5C36-4B6F-97A2-730C851EECC0}" presName="node" presStyleLbl="node1" presStyleIdx="6" presStyleCnt="9">
        <dgm:presLayoutVars>
          <dgm:bulletEnabled val="1"/>
        </dgm:presLayoutVars>
      </dgm:prSet>
      <dgm:spPr/>
    </dgm:pt>
    <dgm:pt modelId="{47676B73-2A9F-4003-8E27-ECB8995CA07D}" type="pres">
      <dgm:prSet presAssocID="{5B1378A0-F795-4C21-BD3D-41478DFE7013}" presName="sibTrans" presStyleCnt="0"/>
      <dgm:spPr/>
    </dgm:pt>
    <dgm:pt modelId="{7A6733E2-11EF-4718-884F-140C73109657}" type="pres">
      <dgm:prSet presAssocID="{9F866966-3115-4BE1-9838-9153BE47173B}" presName="node" presStyleLbl="node1" presStyleIdx="7" presStyleCnt="9">
        <dgm:presLayoutVars>
          <dgm:bulletEnabled val="1"/>
        </dgm:presLayoutVars>
      </dgm:prSet>
      <dgm:spPr/>
    </dgm:pt>
    <dgm:pt modelId="{4380BA49-08B9-4074-9B4C-845CA7126479}" type="pres">
      <dgm:prSet presAssocID="{8F72BE7E-3042-4EB9-A466-17F38AC5719C}" presName="sibTrans" presStyleCnt="0"/>
      <dgm:spPr/>
    </dgm:pt>
    <dgm:pt modelId="{70EB71C9-B07F-4B70-9439-7B3078510F3C}" type="pres">
      <dgm:prSet presAssocID="{435E1910-86F6-4D54-B18E-F1DACDAA194D}" presName="node" presStyleLbl="node1" presStyleIdx="8" presStyleCnt="9">
        <dgm:presLayoutVars>
          <dgm:bulletEnabled val="1"/>
        </dgm:presLayoutVars>
      </dgm:prSet>
      <dgm:spPr/>
    </dgm:pt>
  </dgm:ptLst>
  <dgm:cxnLst>
    <dgm:cxn modelId="{16C1B80B-7B4D-4B49-BF03-CF60C3E8D7B2}" srcId="{C4093DBA-4450-4A04-8F09-AE376C30860B}" destId="{C90F2C69-B90E-4DB7-B1C9-9E40E51B1170}" srcOrd="4" destOrd="0" parTransId="{13A73D63-8555-49F3-A964-FB80372BB85A}" sibTransId="{3F809819-E1B6-49EC-93B1-E4F00E459B41}"/>
    <dgm:cxn modelId="{DEE1CC13-0F87-45EE-8B10-3AEC2CB9A177}" type="presOf" srcId="{C90F2C69-B90E-4DB7-B1C9-9E40E51B1170}" destId="{7525B129-1D3E-4662-932D-8F61F504BD0C}" srcOrd="0" destOrd="0" presId="urn:microsoft.com/office/officeart/2005/8/layout/default"/>
    <dgm:cxn modelId="{D430531B-8693-4302-842C-A354E0CFD4CD}" type="presOf" srcId="{C4093DBA-4450-4A04-8F09-AE376C30860B}" destId="{C58CDBA8-CD59-498D-8A08-A8BB7722B5A9}" srcOrd="0" destOrd="0" presId="urn:microsoft.com/office/officeart/2005/8/layout/default"/>
    <dgm:cxn modelId="{26B59B33-70E9-4251-ABBE-6D33E9DC10A2}" srcId="{C4093DBA-4450-4A04-8F09-AE376C30860B}" destId="{21455AD1-B3EB-4DAC-B060-32B220EF57C0}" srcOrd="5" destOrd="0" parTransId="{05B0880C-2BF7-46F1-B6D3-E7AA1C4BBD94}" sibTransId="{897BC673-2C2C-43AA-BD38-07D7A0924CF6}"/>
    <dgm:cxn modelId="{B2A1293A-D90E-4277-82BA-699C0F5879E6}" srcId="{C4093DBA-4450-4A04-8F09-AE376C30860B}" destId="{31F90833-A802-4FA9-8953-606AD327E36B}" srcOrd="0" destOrd="0" parTransId="{D75BA279-FC5C-4066-8CD5-615DB5B3D650}" sibTransId="{2A3F7E96-74C0-4496-A0F6-CD0232402E89}"/>
    <dgm:cxn modelId="{C6DD8D3E-C97B-4A40-A3ED-973DF0AED38D}" type="presOf" srcId="{196E339B-EE0B-40AD-A507-96A5084A5297}" destId="{BB6901AB-2B52-4995-A133-BB9C917AC3BA}" srcOrd="0" destOrd="0" presId="urn:microsoft.com/office/officeart/2005/8/layout/default"/>
    <dgm:cxn modelId="{A6594547-87EF-4963-A4BA-FCB9EA864C65}" srcId="{C4093DBA-4450-4A04-8F09-AE376C30860B}" destId="{9F866966-3115-4BE1-9838-9153BE47173B}" srcOrd="7" destOrd="0" parTransId="{CF0C732D-1472-4551-8F7C-B0E3C0F4DE85}" sibTransId="{8F72BE7E-3042-4EB9-A466-17F38AC5719C}"/>
    <dgm:cxn modelId="{DE61E747-8643-463D-814D-9D846E6B2466}" type="presOf" srcId="{E0C202AD-9481-4D80-A0BF-EC3C690AC441}" destId="{BED936D5-B3C7-4994-9941-81FF77415B3E}" srcOrd="0" destOrd="0" presId="urn:microsoft.com/office/officeart/2005/8/layout/default"/>
    <dgm:cxn modelId="{C499DB4D-C9E9-4FB2-BE11-C25CFA5ED706}" type="presOf" srcId="{846BBA47-5C36-4B6F-97A2-730C851EECC0}" destId="{B07178D5-DD86-41BD-80EB-5016406C1687}" srcOrd="0" destOrd="0" presId="urn:microsoft.com/office/officeart/2005/8/layout/default"/>
    <dgm:cxn modelId="{C039046F-618F-4BAD-AC02-DE428EC591E2}" srcId="{C4093DBA-4450-4A04-8F09-AE376C30860B}" destId="{E0C202AD-9481-4D80-A0BF-EC3C690AC441}" srcOrd="3" destOrd="0" parTransId="{7E59E840-D550-4EF9-97BA-32E906209E37}" sibTransId="{82FE928E-3BE9-45B4-92B2-BAC7FE66F596}"/>
    <dgm:cxn modelId="{C2DFD851-46B0-412B-B017-5EB319CF6457}" srcId="{C4093DBA-4450-4A04-8F09-AE376C30860B}" destId="{86510446-EBDE-4266-AA2E-DFB698E2DA5E}" srcOrd="1" destOrd="0" parTransId="{FA4B6DDA-8B24-4209-8AD6-8576D9717973}" sibTransId="{9FFAF31E-B618-4A5F-A5F1-1598FB3A9CE8}"/>
    <dgm:cxn modelId="{B3468575-D600-4930-8D56-8E0B94D33E3B}" srcId="{C4093DBA-4450-4A04-8F09-AE376C30860B}" destId="{846BBA47-5C36-4B6F-97A2-730C851EECC0}" srcOrd="6" destOrd="0" parTransId="{D50F12EF-EB9C-412C-90DB-3F2F10E74D08}" sibTransId="{5B1378A0-F795-4C21-BD3D-41478DFE7013}"/>
    <dgm:cxn modelId="{CAD09EA3-20CA-466F-B593-4C93755337B8}" srcId="{C4093DBA-4450-4A04-8F09-AE376C30860B}" destId="{435E1910-86F6-4D54-B18E-F1DACDAA194D}" srcOrd="8" destOrd="0" parTransId="{D91B9330-AF7C-4A18-81B1-8E979063CC59}" sibTransId="{01B656B0-EA02-4AA3-A82C-A4FA49AE4D63}"/>
    <dgm:cxn modelId="{676C48A9-E230-4169-8CDA-0ECA3C757E3A}" type="presOf" srcId="{21455AD1-B3EB-4DAC-B060-32B220EF57C0}" destId="{53CC8F3A-1680-4888-BFC7-178077B415D9}" srcOrd="0" destOrd="0" presId="urn:microsoft.com/office/officeart/2005/8/layout/default"/>
    <dgm:cxn modelId="{8174CAB9-D3EE-4071-A0C3-711FB2C79E19}" type="presOf" srcId="{9F866966-3115-4BE1-9838-9153BE47173B}" destId="{7A6733E2-11EF-4718-884F-140C73109657}" srcOrd="0" destOrd="0" presId="urn:microsoft.com/office/officeart/2005/8/layout/default"/>
    <dgm:cxn modelId="{881866CB-0F85-4FB1-A35E-DA4471470B90}" type="presOf" srcId="{435E1910-86F6-4D54-B18E-F1DACDAA194D}" destId="{70EB71C9-B07F-4B70-9439-7B3078510F3C}" srcOrd="0" destOrd="0" presId="urn:microsoft.com/office/officeart/2005/8/layout/default"/>
    <dgm:cxn modelId="{33D180E3-0ABC-49F8-A460-9F4252667507}" type="presOf" srcId="{31F90833-A802-4FA9-8953-606AD327E36B}" destId="{0509E983-8198-46D8-8798-7EB63A71F5E6}" srcOrd="0" destOrd="0" presId="urn:microsoft.com/office/officeart/2005/8/layout/default"/>
    <dgm:cxn modelId="{DA8A16E5-E431-438C-953B-905C7B7C0F33}" type="presOf" srcId="{86510446-EBDE-4266-AA2E-DFB698E2DA5E}" destId="{44DF7EA4-D4E7-4CAC-9EC9-EC7280B9EE40}" srcOrd="0" destOrd="0" presId="urn:microsoft.com/office/officeart/2005/8/layout/default"/>
    <dgm:cxn modelId="{31BAE7E7-4F90-4847-A40F-D3A6CDA00738}" srcId="{C4093DBA-4450-4A04-8F09-AE376C30860B}" destId="{196E339B-EE0B-40AD-A507-96A5084A5297}" srcOrd="2" destOrd="0" parTransId="{ED0BB95A-5701-4399-A2E7-85A651F7AB8F}" sibTransId="{B962FB9B-3124-4FA0-84AC-E7745D9A9178}"/>
    <dgm:cxn modelId="{18EAA40D-5D9C-4F28-BAEB-20EDB601F617}" type="presParOf" srcId="{C58CDBA8-CD59-498D-8A08-A8BB7722B5A9}" destId="{0509E983-8198-46D8-8798-7EB63A71F5E6}" srcOrd="0" destOrd="0" presId="urn:microsoft.com/office/officeart/2005/8/layout/default"/>
    <dgm:cxn modelId="{84497165-ED93-4D95-893F-6CB510DC6EBE}" type="presParOf" srcId="{C58CDBA8-CD59-498D-8A08-A8BB7722B5A9}" destId="{DBDF8F7C-C9A9-424E-B6C6-C24E535C546D}" srcOrd="1" destOrd="0" presId="urn:microsoft.com/office/officeart/2005/8/layout/default"/>
    <dgm:cxn modelId="{13526E7A-4940-4B08-8D7F-70878DEAA75C}" type="presParOf" srcId="{C58CDBA8-CD59-498D-8A08-A8BB7722B5A9}" destId="{44DF7EA4-D4E7-4CAC-9EC9-EC7280B9EE40}" srcOrd="2" destOrd="0" presId="urn:microsoft.com/office/officeart/2005/8/layout/default"/>
    <dgm:cxn modelId="{2EC83386-FCFB-469C-A1FF-CE6F44A55DDD}" type="presParOf" srcId="{C58CDBA8-CD59-498D-8A08-A8BB7722B5A9}" destId="{7EEC6AB9-B57A-4FF9-909B-A06622539618}" srcOrd="3" destOrd="0" presId="urn:microsoft.com/office/officeart/2005/8/layout/default"/>
    <dgm:cxn modelId="{EB96DABF-D5ED-4237-B639-0CEF44ECF29E}" type="presParOf" srcId="{C58CDBA8-CD59-498D-8A08-A8BB7722B5A9}" destId="{BB6901AB-2B52-4995-A133-BB9C917AC3BA}" srcOrd="4" destOrd="0" presId="urn:microsoft.com/office/officeart/2005/8/layout/default"/>
    <dgm:cxn modelId="{BB83CCE4-F737-46DB-9523-78D40E2AB962}" type="presParOf" srcId="{C58CDBA8-CD59-498D-8A08-A8BB7722B5A9}" destId="{914D0D0D-A4BB-49B7-83E6-0139F3C20710}" srcOrd="5" destOrd="0" presId="urn:microsoft.com/office/officeart/2005/8/layout/default"/>
    <dgm:cxn modelId="{7ED3F054-A2E7-49C7-93DF-03C379317E84}" type="presParOf" srcId="{C58CDBA8-CD59-498D-8A08-A8BB7722B5A9}" destId="{BED936D5-B3C7-4994-9941-81FF77415B3E}" srcOrd="6" destOrd="0" presId="urn:microsoft.com/office/officeart/2005/8/layout/default"/>
    <dgm:cxn modelId="{DA1B93A4-5F43-43D3-8C8F-4C018E9CCD87}" type="presParOf" srcId="{C58CDBA8-CD59-498D-8A08-A8BB7722B5A9}" destId="{4B8CE192-F30E-4AD1-AB8D-8E98D3550AB9}" srcOrd="7" destOrd="0" presId="urn:microsoft.com/office/officeart/2005/8/layout/default"/>
    <dgm:cxn modelId="{4CEB881B-2926-4583-9FDC-AEA81326D028}" type="presParOf" srcId="{C58CDBA8-CD59-498D-8A08-A8BB7722B5A9}" destId="{7525B129-1D3E-4662-932D-8F61F504BD0C}" srcOrd="8" destOrd="0" presId="urn:microsoft.com/office/officeart/2005/8/layout/default"/>
    <dgm:cxn modelId="{0BE137BA-8276-4D9E-B7FE-26C03D309D91}" type="presParOf" srcId="{C58CDBA8-CD59-498D-8A08-A8BB7722B5A9}" destId="{4AD37752-6012-409C-8F97-BC3903953DCC}" srcOrd="9" destOrd="0" presId="urn:microsoft.com/office/officeart/2005/8/layout/default"/>
    <dgm:cxn modelId="{2B88C3B3-6CA8-4734-8A8E-1AA15125EE1C}" type="presParOf" srcId="{C58CDBA8-CD59-498D-8A08-A8BB7722B5A9}" destId="{53CC8F3A-1680-4888-BFC7-178077B415D9}" srcOrd="10" destOrd="0" presId="urn:microsoft.com/office/officeart/2005/8/layout/default"/>
    <dgm:cxn modelId="{D4B98433-F006-47F6-A491-38EFDDCF6EC2}" type="presParOf" srcId="{C58CDBA8-CD59-498D-8A08-A8BB7722B5A9}" destId="{D71BBC6C-47D7-417E-B988-F3F115F02965}" srcOrd="11" destOrd="0" presId="urn:microsoft.com/office/officeart/2005/8/layout/default"/>
    <dgm:cxn modelId="{46422A73-694C-4F5C-A1A5-11150017BC19}" type="presParOf" srcId="{C58CDBA8-CD59-498D-8A08-A8BB7722B5A9}" destId="{B07178D5-DD86-41BD-80EB-5016406C1687}" srcOrd="12" destOrd="0" presId="urn:microsoft.com/office/officeart/2005/8/layout/default"/>
    <dgm:cxn modelId="{7CA25896-6B4A-4863-BCCC-57E789596E6E}" type="presParOf" srcId="{C58CDBA8-CD59-498D-8A08-A8BB7722B5A9}" destId="{47676B73-2A9F-4003-8E27-ECB8995CA07D}" srcOrd="13" destOrd="0" presId="urn:microsoft.com/office/officeart/2005/8/layout/default"/>
    <dgm:cxn modelId="{BD9E24A3-6EC9-46D7-B457-A97FE658BA7C}" type="presParOf" srcId="{C58CDBA8-CD59-498D-8A08-A8BB7722B5A9}" destId="{7A6733E2-11EF-4718-884F-140C73109657}" srcOrd="14" destOrd="0" presId="urn:microsoft.com/office/officeart/2005/8/layout/default"/>
    <dgm:cxn modelId="{16FA7180-7134-4C43-B474-0EB8541499C4}" type="presParOf" srcId="{C58CDBA8-CD59-498D-8A08-A8BB7722B5A9}" destId="{4380BA49-08B9-4074-9B4C-845CA7126479}" srcOrd="15" destOrd="0" presId="urn:microsoft.com/office/officeart/2005/8/layout/default"/>
    <dgm:cxn modelId="{F2BBBAF0-791C-4251-A87C-267656018322}" type="presParOf" srcId="{C58CDBA8-CD59-498D-8A08-A8BB7722B5A9}" destId="{70EB71C9-B07F-4B70-9439-7B3078510F3C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22DDB9-5AF2-45DC-B0D9-0530D9113883}">
      <dsp:nvSpPr>
        <dsp:cNvPr id="0" name=""/>
        <dsp:cNvSpPr/>
      </dsp:nvSpPr>
      <dsp:spPr>
        <a:xfrm>
          <a:off x="0" y="713"/>
          <a:ext cx="700377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BF6DE-3BF7-4D7C-8F30-DD337ED5701B}">
      <dsp:nvSpPr>
        <dsp:cNvPr id="0" name=""/>
        <dsp:cNvSpPr/>
      </dsp:nvSpPr>
      <dsp:spPr>
        <a:xfrm>
          <a:off x="0" y="713"/>
          <a:ext cx="7003777" cy="834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Poor Generalization</a:t>
          </a:r>
          <a:endParaRPr lang="en-US" sz="2300" kern="1200"/>
        </a:p>
      </dsp:txBody>
      <dsp:txXfrm>
        <a:off x="0" y="713"/>
        <a:ext cx="7003777" cy="834596"/>
      </dsp:txXfrm>
    </dsp:sp>
    <dsp:sp modelId="{3BF31478-D5D5-432E-BF8B-645B1811D563}">
      <dsp:nvSpPr>
        <dsp:cNvPr id="0" name=""/>
        <dsp:cNvSpPr/>
      </dsp:nvSpPr>
      <dsp:spPr>
        <a:xfrm>
          <a:off x="0" y="835310"/>
          <a:ext cx="7003777" cy="0"/>
        </a:xfrm>
        <a:prstGeom prst="line">
          <a:avLst/>
        </a:prstGeom>
        <a:solidFill>
          <a:schemeClr val="accent2">
            <a:hueOff val="1597783"/>
            <a:satOff val="5219"/>
            <a:lumOff val="-4444"/>
            <a:alphaOff val="0"/>
          </a:schemeClr>
        </a:solidFill>
        <a:ln w="12700" cap="flat" cmpd="sng" algn="ctr">
          <a:solidFill>
            <a:schemeClr val="accent2">
              <a:hueOff val="1597783"/>
              <a:satOff val="5219"/>
              <a:lumOff val="-44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03BB6-1B1E-4951-B134-5EC9B8730713}">
      <dsp:nvSpPr>
        <dsp:cNvPr id="0" name=""/>
        <dsp:cNvSpPr/>
      </dsp:nvSpPr>
      <dsp:spPr>
        <a:xfrm>
          <a:off x="0" y="835310"/>
          <a:ext cx="7003777" cy="834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Models trained on one generator fail on unseen generators</a:t>
          </a:r>
        </a:p>
      </dsp:txBody>
      <dsp:txXfrm>
        <a:off x="0" y="835310"/>
        <a:ext cx="7003777" cy="834596"/>
      </dsp:txXfrm>
    </dsp:sp>
    <dsp:sp modelId="{3C7FEF81-685D-4DA3-8EA1-408D07FEA09C}">
      <dsp:nvSpPr>
        <dsp:cNvPr id="0" name=""/>
        <dsp:cNvSpPr/>
      </dsp:nvSpPr>
      <dsp:spPr>
        <a:xfrm>
          <a:off x="0" y="1669907"/>
          <a:ext cx="7003777" cy="0"/>
        </a:xfrm>
        <a:prstGeom prst="line">
          <a:avLst/>
        </a:prstGeom>
        <a:solidFill>
          <a:schemeClr val="accent2">
            <a:hueOff val="3195565"/>
            <a:satOff val="10438"/>
            <a:lumOff val="-8889"/>
            <a:alphaOff val="0"/>
          </a:schemeClr>
        </a:solidFill>
        <a:ln w="12700" cap="flat" cmpd="sng" algn="ctr">
          <a:solidFill>
            <a:schemeClr val="accent2">
              <a:hueOff val="3195565"/>
              <a:satOff val="10438"/>
              <a:lumOff val="-88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B82F3-7564-42D4-92DF-69D8D160D120}">
      <dsp:nvSpPr>
        <dsp:cNvPr id="0" name=""/>
        <dsp:cNvSpPr/>
      </dsp:nvSpPr>
      <dsp:spPr>
        <a:xfrm>
          <a:off x="0" y="1669907"/>
          <a:ext cx="7003777" cy="834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Manipulation-Specific Fingerprints</a:t>
          </a:r>
          <a:endParaRPr lang="en-US" sz="2300" kern="1200"/>
        </a:p>
      </dsp:txBody>
      <dsp:txXfrm>
        <a:off x="0" y="1669907"/>
        <a:ext cx="7003777" cy="834596"/>
      </dsp:txXfrm>
    </dsp:sp>
    <dsp:sp modelId="{FDF38ECF-C323-4A9E-8C75-D1BD797A4AD1}">
      <dsp:nvSpPr>
        <dsp:cNvPr id="0" name=""/>
        <dsp:cNvSpPr/>
      </dsp:nvSpPr>
      <dsp:spPr>
        <a:xfrm>
          <a:off x="0" y="2504504"/>
          <a:ext cx="7003777" cy="0"/>
        </a:xfrm>
        <a:prstGeom prst="line">
          <a:avLst/>
        </a:prstGeom>
        <a:solidFill>
          <a:schemeClr val="accent2">
            <a:hueOff val="4793348"/>
            <a:satOff val="15656"/>
            <a:lumOff val="-13333"/>
            <a:alphaOff val="0"/>
          </a:schemeClr>
        </a:solidFill>
        <a:ln w="12700" cap="flat" cmpd="sng" algn="ctr">
          <a:solidFill>
            <a:schemeClr val="accent2">
              <a:hueOff val="4793348"/>
              <a:satOff val="15656"/>
              <a:lumOff val="-133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FD3376-B4C9-40B0-807B-2FEC15DC3163}">
      <dsp:nvSpPr>
        <dsp:cNvPr id="0" name=""/>
        <dsp:cNvSpPr/>
      </dsp:nvSpPr>
      <dsp:spPr>
        <a:xfrm>
          <a:off x="0" y="2504504"/>
          <a:ext cx="7003777" cy="834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Detectors learn generator fingerprints, not universal forgery cues</a:t>
          </a:r>
        </a:p>
      </dsp:txBody>
      <dsp:txXfrm>
        <a:off x="0" y="2504504"/>
        <a:ext cx="7003777" cy="834596"/>
      </dsp:txXfrm>
    </dsp:sp>
    <dsp:sp modelId="{B2830E18-F323-4D56-9D52-58B0F6F8C64E}">
      <dsp:nvSpPr>
        <dsp:cNvPr id="0" name=""/>
        <dsp:cNvSpPr/>
      </dsp:nvSpPr>
      <dsp:spPr>
        <a:xfrm>
          <a:off x="0" y="3339100"/>
          <a:ext cx="7003777" cy="0"/>
        </a:xfrm>
        <a:prstGeom prst="line">
          <a:avLst/>
        </a:prstGeom>
        <a:solidFill>
          <a:schemeClr val="accent2">
            <a:hueOff val="6391131"/>
            <a:satOff val="20875"/>
            <a:lumOff val="-17777"/>
            <a:alphaOff val="0"/>
          </a:schemeClr>
        </a:solidFill>
        <a:ln w="12700" cap="flat" cmpd="sng" algn="ctr">
          <a:solidFill>
            <a:schemeClr val="accent2">
              <a:hueOff val="6391131"/>
              <a:satOff val="20875"/>
              <a:lumOff val="-177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0BE21-44FE-40EB-B541-340E45B13AB7}">
      <dsp:nvSpPr>
        <dsp:cNvPr id="0" name=""/>
        <dsp:cNvSpPr/>
      </dsp:nvSpPr>
      <dsp:spPr>
        <a:xfrm>
          <a:off x="0" y="3339100"/>
          <a:ext cx="7003777" cy="834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No Explainability</a:t>
          </a:r>
          <a:endParaRPr lang="en-US" sz="2300" kern="1200"/>
        </a:p>
      </dsp:txBody>
      <dsp:txXfrm>
        <a:off x="0" y="3339100"/>
        <a:ext cx="7003777" cy="834596"/>
      </dsp:txXfrm>
    </dsp:sp>
    <dsp:sp modelId="{F3802591-581A-4821-A023-89EBE0BC345C}">
      <dsp:nvSpPr>
        <dsp:cNvPr id="0" name=""/>
        <dsp:cNvSpPr/>
      </dsp:nvSpPr>
      <dsp:spPr>
        <a:xfrm>
          <a:off x="0" y="4173697"/>
          <a:ext cx="7003777" cy="0"/>
        </a:xfrm>
        <a:prstGeom prst="line">
          <a:avLst/>
        </a:prstGeom>
        <a:solidFill>
          <a:schemeClr val="accent2">
            <a:hueOff val="7988913"/>
            <a:satOff val="26094"/>
            <a:lumOff val="-22222"/>
            <a:alphaOff val="0"/>
          </a:schemeClr>
        </a:solidFill>
        <a:ln w="12700" cap="flat" cmpd="sng" algn="ctr">
          <a:solidFill>
            <a:schemeClr val="accent2">
              <a:hueOff val="7988913"/>
              <a:satOff val="26094"/>
              <a:lumOff val="-222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19982-3EB5-48D2-874E-4484A377C858}">
      <dsp:nvSpPr>
        <dsp:cNvPr id="0" name=""/>
        <dsp:cNvSpPr/>
      </dsp:nvSpPr>
      <dsp:spPr>
        <a:xfrm>
          <a:off x="0" y="4173697"/>
          <a:ext cx="7003777" cy="834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Virtually all detectors output a single binary label</a:t>
          </a:r>
        </a:p>
      </dsp:txBody>
      <dsp:txXfrm>
        <a:off x="0" y="4173697"/>
        <a:ext cx="7003777" cy="834596"/>
      </dsp:txXfrm>
    </dsp:sp>
    <dsp:sp modelId="{2CD16224-9EFB-4821-8BF3-13F933202DEE}">
      <dsp:nvSpPr>
        <dsp:cNvPr id="0" name=""/>
        <dsp:cNvSpPr/>
      </dsp:nvSpPr>
      <dsp:spPr>
        <a:xfrm>
          <a:off x="0" y="5008294"/>
          <a:ext cx="7003777" cy="0"/>
        </a:xfrm>
        <a:prstGeom prst="line">
          <a:avLst/>
        </a:prstGeom>
        <a:solidFill>
          <a:schemeClr val="accent2">
            <a:hueOff val="9586696"/>
            <a:satOff val="31313"/>
            <a:lumOff val="-26666"/>
            <a:alphaOff val="0"/>
          </a:schemeClr>
        </a:solidFill>
        <a:ln w="12700" cap="flat" cmpd="sng" algn="ctr">
          <a:solidFill>
            <a:schemeClr val="accent2">
              <a:hueOff val="9586696"/>
              <a:satOff val="31313"/>
              <a:lumOff val="-266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33EECC-7BC1-40A5-8B44-CC222A508BF1}">
      <dsp:nvSpPr>
        <dsp:cNvPr id="0" name=""/>
        <dsp:cNvSpPr/>
      </dsp:nvSpPr>
      <dsp:spPr>
        <a:xfrm>
          <a:off x="0" y="5008294"/>
          <a:ext cx="7003777" cy="834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 transparency into which regions drove the decision</a:t>
          </a:r>
        </a:p>
      </dsp:txBody>
      <dsp:txXfrm>
        <a:off x="0" y="5008294"/>
        <a:ext cx="7003777" cy="8345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E09C7E-EE97-444C-929A-85FD249F33A8}">
      <dsp:nvSpPr>
        <dsp:cNvPr id="0" name=""/>
        <dsp:cNvSpPr/>
      </dsp:nvSpPr>
      <dsp:spPr>
        <a:xfrm>
          <a:off x="0" y="844383"/>
          <a:ext cx="5626542" cy="3357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Input: one video frame (128x128 RGB)</a:t>
          </a:r>
        </a:p>
      </dsp:txBody>
      <dsp:txXfrm>
        <a:off x="16392" y="860775"/>
        <a:ext cx="5593758" cy="303006"/>
      </dsp:txXfrm>
    </dsp:sp>
    <dsp:sp modelId="{FD90B904-D017-4B28-BD29-358F4378A819}">
      <dsp:nvSpPr>
        <dsp:cNvPr id="0" name=""/>
        <dsp:cNvSpPr/>
      </dsp:nvSpPr>
      <dsp:spPr>
        <a:xfrm>
          <a:off x="0" y="1220494"/>
          <a:ext cx="5626542" cy="335790"/>
        </a:xfrm>
        <a:prstGeom prst="roundRect">
          <a:avLst/>
        </a:prstGeom>
        <a:solidFill>
          <a:schemeClr val="accent5">
            <a:hueOff val="-1003996"/>
            <a:satOff val="3612"/>
            <a:lumOff val="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Two parallel preprocessing paths:</a:t>
          </a:r>
        </a:p>
      </dsp:txBody>
      <dsp:txXfrm>
        <a:off x="16392" y="1236886"/>
        <a:ext cx="5593758" cy="303006"/>
      </dsp:txXfrm>
    </dsp:sp>
    <dsp:sp modelId="{B4A9D62F-EF02-43A6-871B-06B690745512}">
      <dsp:nvSpPr>
        <dsp:cNvPr id="0" name=""/>
        <dsp:cNvSpPr/>
      </dsp:nvSpPr>
      <dsp:spPr>
        <a:xfrm>
          <a:off x="0" y="1596604"/>
          <a:ext cx="5626542" cy="335790"/>
        </a:xfrm>
        <a:prstGeom prst="roundRect">
          <a:avLst/>
        </a:prstGeom>
        <a:solidFill>
          <a:schemeClr val="accent5">
            <a:hueOff val="-2007993"/>
            <a:satOff val="7223"/>
            <a:lumOff val="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Path A: RGB → Spatial CNN branch (3 channels)</a:t>
          </a:r>
        </a:p>
      </dsp:txBody>
      <dsp:txXfrm>
        <a:off x="16392" y="1612996"/>
        <a:ext cx="5593758" cy="303006"/>
      </dsp:txXfrm>
    </dsp:sp>
    <dsp:sp modelId="{18EF3AC2-6089-42AD-A7C0-1194992A7941}">
      <dsp:nvSpPr>
        <dsp:cNvPr id="0" name=""/>
        <dsp:cNvSpPr/>
      </dsp:nvSpPr>
      <dsp:spPr>
        <a:xfrm>
          <a:off x="0" y="1972714"/>
          <a:ext cx="5626542" cy="335790"/>
        </a:xfrm>
        <a:prstGeom prst="roundRect">
          <a:avLst/>
        </a:prstGeom>
        <a:solidFill>
          <a:schemeClr val="accent5">
            <a:hueOff val="-3011989"/>
            <a:satOff val="10835"/>
            <a:lumOff val="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Path B: Grayscale → FFT → Frequency CNN branch (1 channel)</a:t>
          </a:r>
        </a:p>
      </dsp:txBody>
      <dsp:txXfrm>
        <a:off x="16392" y="1989106"/>
        <a:ext cx="5593758" cy="303006"/>
      </dsp:txXfrm>
    </dsp:sp>
    <dsp:sp modelId="{D80F65DC-5617-4B4C-A70F-77A5DFC6F383}">
      <dsp:nvSpPr>
        <dsp:cNvPr id="0" name=""/>
        <dsp:cNvSpPr/>
      </dsp:nvSpPr>
      <dsp:spPr>
        <a:xfrm>
          <a:off x="0" y="2348823"/>
          <a:ext cx="5626542" cy="335790"/>
        </a:xfrm>
        <a:prstGeom prst="roundRect">
          <a:avLst/>
        </a:prstGeom>
        <a:solidFill>
          <a:schemeClr val="accent5">
            <a:hueOff val="-4015986"/>
            <a:satOff val="14446"/>
            <a:lumOff val="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Feature extraction:</a:t>
          </a:r>
        </a:p>
      </dsp:txBody>
      <dsp:txXfrm>
        <a:off x="16392" y="2365215"/>
        <a:ext cx="5593758" cy="303006"/>
      </dsp:txXfrm>
    </dsp:sp>
    <dsp:sp modelId="{078C3DBA-2856-4ED0-A48D-C57337C6F50B}">
      <dsp:nvSpPr>
        <dsp:cNvPr id="0" name=""/>
        <dsp:cNvSpPr/>
      </dsp:nvSpPr>
      <dsp:spPr>
        <a:xfrm>
          <a:off x="0" y="2724933"/>
          <a:ext cx="5626542" cy="335790"/>
        </a:xfrm>
        <a:prstGeom prst="roundRect">
          <a:avLst/>
        </a:prstGeom>
        <a:solidFill>
          <a:schemeClr val="accent5">
            <a:hueOff val="-5019982"/>
            <a:satOff val="18057"/>
            <a:lumOff val="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Spatial branch: 3-block CNN (16→32→64 filters, ReLU, MaxPool)</a:t>
          </a:r>
        </a:p>
      </dsp:txBody>
      <dsp:txXfrm>
        <a:off x="16392" y="2741325"/>
        <a:ext cx="5593758" cy="303006"/>
      </dsp:txXfrm>
    </dsp:sp>
    <dsp:sp modelId="{3FFDE64E-2F1C-4553-A735-CB676DBDF092}">
      <dsp:nvSpPr>
        <dsp:cNvPr id="0" name=""/>
        <dsp:cNvSpPr/>
      </dsp:nvSpPr>
      <dsp:spPr>
        <a:xfrm>
          <a:off x="0" y="3101044"/>
          <a:ext cx="5626542" cy="335790"/>
        </a:xfrm>
        <a:prstGeom prst="roundRect">
          <a:avLst/>
        </a:prstGeom>
        <a:solidFill>
          <a:schemeClr val="accent5">
            <a:hueOff val="-6023979"/>
            <a:satOff val="21669"/>
            <a:lumOff val="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Frequency branch: identical 3-block CNN</a:t>
          </a:r>
        </a:p>
      </dsp:txBody>
      <dsp:txXfrm>
        <a:off x="16392" y="3117436"/>
        <a:ext cx="5593758" cy="303006"/>
      </dsp:txXfrm>
    </dsp:sp>
    <dsp:sp modelId="{F7A2E626-189C-40AD-93F0-AFB270774618}">
      <dsp:nvSpPr>
        <dsp:cNvPr id="0" name=""/>
        <dsp:cNvSpPr/>
      </dsp:nvSpPr>
      <dsp:spPr>
        <a:xfrm>
          <a:off x="0" y="3477154"/>
          <a:ext cx="5626542" cy="335790"/>
        </a:xfrm>
        <a:prstGeom prst="roundRect">
          <a:avLst/>
        </a:prstGeom>
        <a:solidFill>
          <a:schemeClr val="accent5">
            <a:hueOff val="-7027975"/>
            <a:satOff val="25280"/>
            <a:lumOff val="1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Fusion strategies:</a:t>
          </a:r>
        </a:p>
      </dsp:txBody>
      <dsp:txXfrm>
        <a:off x="16392" y="3493546"/>
        <a:ext cx="5593758" cy="303006"/>
      </dsp:txXfrm>
    </dsp:sp>
    <dsp:sp modelId="{BB85E870-4420-4104-BF62-DEB65B479527}">
      <dsp:nvSpPr>
        <dsp:cNvPr id="0" name=""/>
        <dsp:cNvSpPr/>
      </dsp:nvSpPr>
      <dsp:spPr>
        <a:xfrm>
          <a:off x="0" y="3853264"/>
          <a:ext cx="5626542" cy="335790"/>
        </a:xfrm>
        <a:prstGeom prst="roundRect">
          <a:avLst/>
        </a:prstGeom>
        <a:solidFill>
          <a:schemeClr val="accent5">
            <a:hueOff val="-8031972"/>
            <a:satOff val="28892"/>
            <a:lumOff val="1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Option 1: Concatenation → MLP classifier</a:t>
          </a:r>
        </a:p>
      </dsp:txBody>
      <dsp:txXfrm>
        <a:off x="16392" y="3869656"/>
        <a:ext cx="5593758" cy="303006"/>
      </dsp:txXfrm>
    </dsp:sp>
    <dsp:sp modelId="{79C6CF36-E896-454A-BFEF-9C8FDA14AFD3}">
      <dsp:nvSpPr>
        <dsp:cNvPr id="0" name=""/>
        <dsp:cNvSpPr/>
      </dsp:nvSpPr>
      <dsp:spPr>
        <a:xfrm>
          <a:off x="0" y="4229374"/>
          <a:ext cx="5626542" cy="335790"/>
        </a:xfrm>
        <a:prstGeom prst="roundRect">
          <a:avLst/>
        </a:prstGeom>
        <a:solidFill>
          <a:schemeClr val="accent5">
            <a:hueOff val="-9035967"/>
            <a:satOff val="32503"/>
            <a:lumOff val="1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Option 2: Attention gate → weighted sum → MLP classifier</a:t>
          </a:r>
        </a:p>
      </dsp:txBody>
      <dsp:txXfrm>
        <a:off x="16392" y="4245766"/>
        <a:ext cx="5593758" cy="303006"/>
      </dsp:txXfrm>
    </dsp:sp>
    <dsp:sp modelId="{98FA21FA-72AA-44D7-99ED-F035B913103D}">
      <dsp:nvSpPr>
        <dsp:cNvPr id="0" name=""/>
        <dsp:cNvSpPr/>
      </dsp:nvSpPr>
      <dsp:spPr>
        <a:xfrm>
          <a:off x="0" y="4605484"/>
          <a:ext cx="5626542" cy="335790"/>
        </a:xfrm>
        <a:prstGeom prst="roundRect">
          <a:avLst/>
        </a:prstGeom>
        <a:solidFill>
          <a:schemeClr val="accent5">
            <a:hueOff val="-10039964"/>
            <a:satOff val="36115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Output: single logit → sigmoid → Fake/Real probability</a:t>
          </a:r>
        </a:p>
      </dsp:txBody>
      <dsp:txXfrm>
        <a:off x="16392" y="4621876"/>
        <a:ext cx="5593758" cy="3030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9E983-8198-46D8-8798-7EB63A71F5E6}">
      <dsp:nvSpPr>
        <dsp:cNvPr id="0" name=""/>
        <dsp:cNvSpPr/>
      </dsp:nvSpPr>
      <dsp:spPr>
        <a:xfrm>
          <a:off x="424139" y="2129"/>
          <a:ext cx="2164709" cy="12988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Surprise 1: Frequency model near-random (46.5%)</a:t>
          </a:r>
          <a:endParaRPr lang="en-US" sz="1600" kern="1200"/>
        </a:p>
      </dsp:txBody>
      <dsp:txXfrm>
        <a:off x="424139" y="2129"/>
        <a:ext cx="2164709" cy="1298825"/>
      </dsp:txXfrm>
    </dsp:sp>
    <dsp:sp modelId="{44DF7EA4-D4E7-4CAC-9EC9-EC7280B9EE40}">
      <dsp:nvSpPr>
        <dsp:cNvPr id="0" name=""/>
        <dsp:cNvSpPr/>
      </dsp:nvSpPr>
      <dsp:spPr>
        <a:xfrm>
          <a:off x="2805320" y="2129"/>
          <a:ext cx="2164709" cy="1298825"/>
        </a:xfrm>
        <a:prstGeom prst="rect">
          <a:avLst/>
        </a:prstGeom>
        <a:solidFill>
          <a:schemeClr val="accent5">
            <a:hueOff val="-1254995"/>
            <a:satOff val="4514"/>
            <a:lumOff val="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Contradicts common assumption that FFT is universally informative</a:t>
          </a:r>
        </a:p>
      </dsp:txBody>
      <dsp:txXfrm>
        <a:off x="2805320" y="2129"/>
        <a:ext cx="2164709" cy="1298825"/>
      </dsp:txXfrm>
    </dsp:sp>
    <dsp:sp modelId="{BB6901AB-2B52-4995-A133-BB9C917AC3BA}">
      <dsp:nvSpPr>
        <dsp:cNvPr id="0" name=""/>
        <dsp:cNvSpPr/>
      </dsp:nvSpPr>
      <dsp:spPr>
        <a:xfrm>
          <a:off x="5186500" y="2129"/>
          <a:ext cx="2164709" cy="1298825"/>
        </a:xfrm>
        <a:prstGeom prst="rect">
          <a:avLst/>
        </a:prstGeom>
        <a:solidFill>
          <a:schemeClr val="accent5">
            <a:hueOff val="-2509991"/>
            <a:satOff val="9029"/>
            <a:lumOff val="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Hypothesis: C23 compression quantizes frequency domain, masking artifacts</a:t>
          </a:r>
        </a:p>
      </dsp:txBody>
      <dsp:txXfrm>
        <a:off x="5186500" y="2129"/>
        <a:ext cx="2164709" cy="1298825"/>
      </dsp:txXfrm>
    </dsp:sp>
    <dsp:sp modelId="{BED936D5-B3C7-4994-9941-81FF77415B3E}">
      <dsp:nvSpPr>
        <dsp:cNvPr id="0" name=""/>
        <dsp:cNvSpPr/>
      </dsp:nvSpPr>
      <dsp:spPr>
        <a:xfrm>
          <a:off x="7567681" y="2129"/>
          <a:ext cx="2164709" cy="1298825"/>
        </a:xfrm>
        <a:prstGeom prst="rect">
          <a:avLst/>
        </a:prstGeom>
        <a:solidFill>
          <a:schemeClr val="accent5">
            <a:hueOff val="-3764986"/>
            <a:satOff val="13543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Prediction: would perform much better on uncompressed/lightly compressed media</a:t>
          </a:r>
        </a:p>
      </dsp:txBody>
      <dsp:txXfrm>
        <a:off x="7567681" y="2129"/>
        <a:ext cx="2164709" cy="1298825"/>
      </dsp:txXfrm>
    </dsp:sp>
    <dsp:sp modelId="{7525B129-1D3E-4662-932D-8F61F504BD0C}">
      <dsp:nvSpPr>
        <dsp:cNvPr id="0" name=""/>
        <dsp:cNvSpPr/>
      </dsp:nvSpPr>
      <dsp:spPr>
        <a:xfrm>
          <a:off x="424139" y="1517426"/>
          <a:ext cx="2164709" cy="1298825"/>
        </a:xfrm>
        <a:prstGeom prst="rect">
          <a:avLst/>
        </a:prstGeom>
        <a:solidFill>
          <a:schemeClr val="accent5">
            <a:hueOff val="-5019982"/>
            <a:satOff val="18057"/>
            <a:lumOff val="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Surprise 2: Concat fusion &lt; spatial baseline</a:t>
          </a:r>
          <a:endParaRPr lang="en-US" sz="1600" kern="1200"/>
        </a:p>
      </dsp:txBody>
      <dsp:txXfrm>
        <a:off x="424139" y="1517426"/>
        <a:ext cx="2164709" cy="1298825"/>
      </dsp:txXfrm>
    </dsp:sp>
    <dsp:sp modelId="{53CC8F3A-1680-4888-BFC7-178077B415D9}">
      <dsp:nvSpPr>
        <dsp:cNvPr id="0" name=""/>
        <dsp:cNvSpPr/>
      </dsp:nvSpPr>
      <dsp:spPr>
        <a:xfrm>
          <a:off x="2805320" y="1517426"/>
          <a:ext cx="2164709" cy="1298825"/>
        </a:xfrm>
        <a:prstGeom prst="rect">
          <a:avLst/>
        </a:prstGeom>
        <a:solidFill>
          <a:schemeClr val="accent5">
            <a:hueOff val="-6274978"/>
            <a:satOff val="22572"/>
            <a:lumOff val="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Counterintuitive: why does adding information hurt?</a:t>
          </a:r>
        </a:p>
      </dsp:txBody>
      <dsp:txXfrm>
        <a:off x="2805320" y="1517426"/>
        <a:ext cx="2164709" cy="1298825"/>
      </dsp:txXfrm>
    </dsp:sp>
    <dsp:sp modelId="{B07178D5-DD86-41BD-80EB-5016406C1687}">
      <dsp:nvSpPr>
        <dsp:cNvPr id="0" name=""/>
        <dsp:cNvSpPr/>
      </dsp:nvSpPr>
      <dsp:spPr>
        <a:xfrm>
          <a:off x="5186500" y="1517426"/>
          <a:ext cx="2164709" cy="1298825"/>
        </a:xfrm>
        <a:prstGeom prst="rect">
          <a:avLst/>
        </a:prstGeom>
        <a:solidFill>
          <a:schemeClr val="accent5">
            <a:hueOff val="-7529973"/>
            <a:satOff val="27086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Explanation: 128-dim vector with 64 dims of noise dilutes classifier capacity</a:t>
          </a:r>
        </a:p>
      </dsp:txBody>
      <dsp:txXfrm>
        <a:off x="5186500" y="1517426"/>
        <a:ext cx="2164709" cy="1298825"/>
      </dsp:txXfrm>
    </dsp:sp>
    <dsp:sp modelId="{7A6733E2-11EF-4718-884F-140C73109657}">
      <dsp:nvSpPr>
        <dsp:cNvPr id="0" name=""/>
        <dsp:cNvSpPr/>
      </dsp:nvSpPr>
      <dsp:spPr>
        <a:xfrm>
          <a:off x="7567681" y="1517426"/>
          <a:ext cx="2164709" cy="1298825"/>
        </a:xfrm>
        <a:prstGeom prst="rect">
          <a:avLst/>
        </a:prstGeom>
        <a:solidFill>
          <a:schemeClr val="accent5">
            <a:hueOff val="-8784968"/>
            <a:satOff val="31601"/>
            <a:lumOff val="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Attention gate solves this by learning to suppress uninformative branch</a:t>
          </a:r>
        </a:p>
      </dsp:txBody>
      <dsp:txXfrm>
        <a:off x="7567681" y="1517426"/>
        <a:ext cx="2164709" cy="1298825"/>
      </dsp:txXfrm>
    </dsp:sp>
    <dsp:sp modelId="{70EB71C9-B07F-4B70-9439-7B3078510F3C}">
      <dsp:nvSpPr>
        <dsp:cNvPr id="0" name=""/>
        <dsp:cNvSpPr/>
      </dsp:nvSpPr>
      <dsp:spPr>
        <a:xfrm>
          <a:off x="3995910" y="3032723"/>
          <a:ext cx="2164709" cy="1298825"/>
        </a:xfrm>
        <a:prstGeom prst="rect">
          <a:avLst/>
        </a:prstGeom>
        <a:solidFill>
          <a:schemeClr val="accent5">
            <a:hueOff val="-10039964"/>
            <a:satOff val="36115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Implication</a:t>
          </a:r>
          <a:r>
            <a:rPr lang="en-US" sz="1600" kern="1200"/>
            <a:t>: domain fusion must be paired with gating; naive approaches backfire</a:t>
          </a:r>
        </a:p>
      </dsp:txBody>
      <dsp:txXfrm>
        <a:off x="3995910" y="3032723"/>
        <a:ext cx="2164709" cy="12988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86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2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24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129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99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95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59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5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82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78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9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9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6" r:id="rId8"/>
    <p:sldLayoutId id="2147483733" r:id="rId9"/>
    <p:sldLayoutId id="2147483734" r:id="rId10"/>
    <p:sldLayoutId id="214748373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056FD6-9767-4B1A-ACC2-9883F6A5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79928" cy="6858000"/>
          </a:xfrm>
          <a:prstGeom prst="rect">
            <a:avLst/>
          </a:prstGeom>
          <a:blipFill dpi="0" rotWithShape="1">
            <a:blip r:embed="rId2">
              <a:alphaModFix amt="20000"/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B49EF90-C5C8-4771-1C56-687C4D2033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t="7460" r="-1" b="8266"/>
          <a:stretch>
            <a:fillRect/>
          </a:stretch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87E3D8-4179-4276-5FB7-FBD9924DB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744909"/>
            <a:ext cx="10190071" cy="3145855"/>
          </a:xfrm>
        </p:spPr>
        <p:txBody>
          <a:bodyPr anchor="b"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Universal Synthetic Image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620EC-1C6B-6CB0-C761-411A38165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8708" y="4069780"/>
            <a:ext cx="9781327" cy="2056617"/>
          </a:xfrm>
        </p:spPr>
        <p:txBody>
          <a:bodyPr anchor="t">
            <a:normAutofit/>
          </a:bodyPr>
          <a:lstStyle/>
          <a:p>
            <a:r>
              <a:rPr lang="es-ES" sz="2200" dirty="0">
                <a:solidFill>
                  <a:srgbClr val="FFFFFF"/>
                </a:solidFill>
              </a:rPr>
              <a:t>Tanvir Mahmud Prince, Eshan Agarwal</a:t>
            </a:r>
            <a:endParaRPr lang="en-US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236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074AF-E82E-4BFD-80A1-C7A5202C42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79" r="10260" b="-2"/>
          <a:stretch>
            <a:fillRect/>
          </a:stretch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5A1D0B-3C45-ED9A-7937-83AC77EB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6800"/>
            <a:ext cx="10003218" cy="1219200"/>
          </a:xfrm>
        </p:spPr>
        <p:txBody>
          <a:bodyPr>
            <a:normAutofit/>
          </a:bodyPr>
          <a:lstStyle/>
          <a:p>
            <a:r>
              <a:rPr lang="en-US" dirty="0"/>
              <a:t>Generative AI is Everywhere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75318-4C00-DEE9-A125-81216D0BF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399684"/>
            <a:ext cx="4800600" cy="393598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Generative AI has improved with technologies such as: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  - Stable Diffusion, StyleGAN, face-swapping pipelines 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  - Photorealistic outputs at scale, indistinguishable to the human eye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Significant societal harms: 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 - Misinformation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 - Identity fraud and deepfake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 - Political manipulation</a:t>
            </a:r>
          </a:p>
        </p:txBody>
      </p:sp>
    </p:spTree>
    <p:extLst>
      <p:ext uri="{BB962C8B-B14F-4D97-AF65-F5344CB8AC3E}">
        <p14:creationId xmlns:p14="http://schemas.microsoft.com/office/powerpoint/2010/main" val="928936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1A847-CA3A-CC65-196A-0EC82C69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/>
              <a:t>Three Critical Gaps in Current Detectors</a:t>
            </a:r>
            <a:endParaRPr lang="en-US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880AEA40-45A7-977E-594D-77762A9DC6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2261976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02038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4FB2F27-3F7D-440E-A905-86607A92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678C14-A033-4139-BCA9-8382B0396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CBEC9D-9F9B-4383-B986-DE5B184A9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00" t="44401"/>
          <a:stretch/>
        </p:blipFill>
        <p:spPr>
          <a:xfrm>
            <a:off x="-3048" y="-1"/>
            <a:ext cx="1146048" cy="10709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B0D758-90EF-D26D-3EE2-C99F69FA0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1339"/>
            <a:ext cx="4648200" cy="28311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Solution: Multi-Domain Fusion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3E5F3-2211-16AB-457E-8F5B9DFBB71A}"/>
              </a:ext>
            </a:extLst>
          </p:cNvPr>
          <p:cNvSpPr txBox="1"/>
          <p:nvPr/>
        </p:nvSpPr>
        <p:spPr>
          <a:xfrm>
            <a:off x="838200" y="3429000"/>
            <a:ext cx="4647901" cy="2585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2"/>
                </a:solidFill>
              </a:rPr>
              <a:t>Forgeries leave traces in BOTH spatial and frequency domains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2"/>
                </a:solidFill>
              </a:rPr>
              <a:t>Spatial domain: RGB pixel patterns, texture inconsistencies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2"/>
                </a:solidFill>
              </a:rPr>
              <a:t>Frequency domain: FFT log-magnitude reveals spectral artifacts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2"/>
                </a:solidFill>
              </a:rPr>
              <a:t>Cross-shaped energy spikes at DC component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2"/>
                </a:solidFill>
              </a:rPr>
              <a:t>Periodic high-frequency peaks from upsampling layers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2"/>
                </a:solidFill>
              </a:rPr>
              <a:t>Checkerboard patterns from transposed convolutions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2"/>
                </a:solidFill>
              </a:rPr>
              <a:t>Our framework processes both domains in parallel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100">
              <a:solidFill>
                <a:schemeClr val="tx2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DBA228-420F-FD96-10B8-59DC04B53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806" y="1020267"/>
            <a:ext cx="4817466" cy="481746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FE52FC7-B3EF-46A4-B8CE-292164EC9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69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591AA4-106C-4EB4-8352-EEB6C4491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1"/>
            <a:ext cx="12191999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F0842D-03BF-4DC0-8DC1-10183EB6A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457" y="739600"/>
            <a:ext cx="10768226" cy="53909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58282A-D686-CFF5-A9CD-915E7CA6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66800"/>
            <a:ext cx="5334000" cy="19970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>
                <a:solidFill>
                  <a:schemeClr val="tx2"/>
                </a:solidFill>
              </a:rPr>
              <a:t>What the Frequency Domain Reveals</a:t>
            </a:r>
            <a:br>
              <a:rPr lang="en-US" sz="4100">
                <a:solidFill>
                  <a:schemeClr val="tx2"/>
                </a:solidFill>
              </a:rPr>
            </a:br>
            <a:endParaRPr lang="en-US" sz="4100">
              <a:solidFill>
                <a:schemeClr val="tx2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6A2BED9-B9E9-7A14-8816-A375F9F62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611" y="1066800"/>
            <a:ext cx="2286000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460507-DF3B-1437-18D9-EE6250C922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611" y="3434551"/>
            <a:ext cx="2286000" cy="2286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D7A0ED-0492-0835-3A7E-F25550BB9CC2}"/>
              </a:ext>
            </a:extLst>
          </p:cNvPr>
          <p:cNvSpPr txBox="1"/>
          <p:nvPr/>
        </p:nvSpPr>
        <p:spPr>
          <a:xfrm>
            <a:off x="5638800" y="3200400"/>
            <a:ext cx="5334000" cy="259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We convert each frame to grayscale and compute 2D FFT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Formula: M(</a:t>
            </a:r>
            <a:r>
              <a:rPr lang="en-US" sz="1400" dirty="0" err="1">
                <a:solidFill>
                  <a:schemeClr val="tx2"/>
                </a:solidFill>
              </a:rPr>
              <a:t>u,v</a:t>
            </a:r>
            <a:r>
              <a:rPr lang="en-US" sz="1400" dirty="0">
                <a:solidFill>
                  <a:schemeClr val="tx2"/>
                </a:solidFill>
              </a:rPr>
              <a:t>) = log(|</a:t>
            </a:r>
            <a:r>
              <a:rPr lang="en-US" sz="1400" dirty="0" err="1">
                <a:solidFill>
                  <a:schemeClr val="tx2"/>
                </a:solidFill>
              </a:rPr>
              <a:t>FFTShift</a:t>
            </a:r>
            <a:r>
              <a:rPr lang="en-US" sz="1400" dirty="0">
                <a:solidFill>
                  <a:schemeClr val="tx2"/>
                </a:solidFill>
              </a:rPr>
              <a:t>(FFT2(gray))| + epsilon)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Result: single-channel 128x128 log-magnitude spectrum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Real and fake spectra show measurable differences:</a:t>
            </a:r>
          </a:p>
          <a:p>
            <a:pPr lvl="1"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Energy distribution patterns around DC component</a:t>
            </a:r>
          </a:p>
          <a:p>
            <a:pPr lvl="1"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High-frequency tail characteristics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These differences are invisible in the spatial domain alone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790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9828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98281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2C24A-1453-DA5E-FE83-AE02F2EFD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4876800" cy="5577934"/>
          </a:xfrm>
        </p:spPr>
        <p:txBody>
          <a:bodyPr>
            <a:normAutofit/>
          </a:bodyPr>
          <a:lstStyle/>
          <a:p>
            <a:r>
              <a:rPr lang="en-US" dirty="0"/>
              <a:t>Data 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E523A3-2D52-962C-5C57-145171F623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0470410"/>
              </p:ext>
            </p:extLst>
          </p:nvPr>
        </p:nvGraphicFramePr>
        <p:xfrm>
          <a:off x="6184458" y="343433"/>
          <a:ext cx="5626542" cy="5785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30361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7C484C-9C89-877A-853C-D36361D85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813"/>
            <a:ext cx="5638800" cy="15737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Four Model Variants Compared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7A9083-6C0A-1483-EB41-FF60449C37E3}"/>
              </a:ext>
            </a:extLst>
          </p:cNvPr>
          <p:cNvSpPr txBox="1"/>
          <p:nvPr/>
        </p:nvSpPr>
        <p:spPr>
          <a:xfrm>
            <a:off x="6687160" y="559814"/>
            <a:ext cx="4633486" cy="1573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Attention gate learns alpha = </a:t>
            </a:r>
            <a:r>
              <a:rPr lang="en-US" sz="1500" dirty="0" err="1">
                <a:solidFill>
                  <a:schemeClr val="tx2"/>
                </a:solidFill>
              </a:rPr>
              <a:t>Softmax</a:t>
            </a:r>
            <a:r>
              <a:rPr lang="en-US" sz="1500" dirty="0">
                <a:solidFill>
                  <a:schemeClr val="tx2"/>
                </a:solidFill>
              </a:rPr>
              <a:t>(MLP([</a:t>
            </a:r>
            <a:r>
              <a:rPr lang="en-US" sz="1500" dirty="0" err="1">
                <a:solidFill>
                  <a:schemeClr val="tx2"/>
                </a:solidFill>
              </a:rPr>
              <a:t>f_s</a:t>
            </a:r>
            <a:r>
              <a:rPr lang="en-US" sz="1500" dirty="0">
                <a:solidFill>
                  <a:schemeClr val="tx2"/>
                </a:solidFill>
              </a:rPr>
              <a:t>; </a:t>
            </a:r>
            <a:r>
              <a:rPr lang="en-US" sz="1500" dirty="0" err="1">
                <a:solidFill>
                  <a:schemeClr val="tx2"/>
                </a:solidFill>
              </a:rPr>
              <a:t>f_f</a:t>
            </a:r>
            <a:r>
              <a:rPr lang="en-US" sz="1500" dirty="0">
                <a:solidFill>
                  <a:schemeClr val="tx2"/>
                </a:solidFill>
              </a:rPr>
              <a:t>]))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Fused = </a:t>
            </a:r>
            <a:r>
              <a:rPr lang="en-US" sz="1500" dirty="0" err="1">
                <a:solidFill>
                  <a:schemeClr val="tx2"/>
                </a:solidFill>
              </a:rPr>
              <a:t>alpha_s</a:t>
            </a:r>
            <a:r>
              <a:rPr lang="en-US" sz="1500" dirty="0">
                <a:solidFill>
                  <a:schemeClr val="tx2"/>
                </a:solidFill>
              </a:rPr>
              <a:t> * </a:t>
            </a:r>
            <a:r>
              <a:rPr lang="en-US" sz="1500" dirty="0" err="1">
                <a:solidFill>
                  <a:schemeClr val="tx2"/>
                </a:solidFill>
              </a:rPr>
              <a:t>f_s</a:t>
            </a:r>
            <a:r>
              <a:rPr lang="en-US" sz="1500" dirty="0">
                <a:solidFill>
                  <a:schemeClr val="tx2"/>
                </a:solidFill>
              </a:rPr>
              <a:t> + </a:t>
            </a:r>
            <a:r>
              <a:rPr lang="en-US" sz="1500" dirty="0" err="1">
                <a:solidFill>
                  <a:schemeClr val="tx2"/>
                </a:solidFill>
              </a:rPr>
              <a:t>alpha_f</a:t>
            </a:r>
            <a:r>
              <a:rPr lang="en-US" sz="1500" dirty="0">
                <a:solidFill>
                  <a:schemeClr val="tx2"/>
                </a:solidFill>
              </a:rPr>
              <a:t> * </a:t>
            </a:r>
            <a:r>
              <a:rPr lang="en-US" sz="1500" dirty="0" err="1">
                <a:solidFill>
                  <a:schemeClr val="tx2"/>
                </a:solidFill>
              </a:rPr>
              <a:t>f_f</a:t>
            </a:r>
            <a:endParaRPr lang="en-US" sz="1500" dirty="0">
              <a:solidFill>
                <a:schemeClr val="tx2"/>
              </a:solidFill>
            </a:endParaRP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Model can dynamically emphasize the informative domain per sample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8F1D04-8B9C-BB2C-469B-D27B6A7095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9961720"/>
              </p:ext>
            </p:extLst>
          </p:nvPr>
        </p:nvGraphicFramePr>
        <p:xfrm>
          <a:off x="838200" y="2430680"/>
          <a:ext cx="10515603" cy="3829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2482">
                  <a:extLst>
                    <a:ext uri="{9D8B030D-6E8A-4147-A177-3AD203B41FA5}">
                      <a16:colId xmlns:a16="http://schemas.microsoft.com/office/drawing/2014/main" val="1241167627"/>
                    </a:ext>
                  </a:extLst>
                </a:gridCol>
                <a:gridCol w="1837878">
                  <a:extLst>
                    <a:ext uri="{9D8B030D-6E8A-4147-A177-3AD203B41FA5}">
                      <a16:colId xmlns:a16="http://schemas.microsoft.com/office/drawing/2014/main" val="1773210021"/>
                    </a:ext>
                  </a:extLst>
                </a:gridCol>
                <a:gridCol w="2342695">
                  <a:extLst>
                    <a:ext uri="{9D8B030D-6E8A-4147-A177-3AD203B41FA5}">
                      <a16:colId xmlns:a16="http://schemas.microsoft.com/office/drawing/2014/main" val="338687902"/>
                    </a:ext>
                  </a:extLst>
                </a:gridCol>
                <a:gridCol w="1315948">
                  <a:extLst>
                    <a:ext uri="{9D8B030D-6E8A-4147-A177-3AD203B41FA5}">
                      <a16:colId xmlns:a16="http://schemas.microsoft.com/office/drawing/2014/main" val="897405346"/>
                    </a:ext>
                  </a:extLst>
                </a:gridCol>
                <a:gridCol w="2556600">
                  <a:extLst>
                    <a:ext uri="{9D8B030D-6E8A-4147-A177-3AD203B41FA5}">
                      <a16:colId xmlns:a16="http://schemas.microsoft.com/office/drawing/2014/main" val="23344194"/>
                    </a:ext>
                  </a:extLst>
                </a:gridCol>
              </a:tblGrid>
              <a:tr h="47025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Model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Inputs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Fusion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Params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Key Property</a:t>
                      </a:r>
                    </a:p>
                  </a:txBody>
                  <a:tcPr marL="38503" marR="38503" marT="25669" marB="25669" anchor="b"/>
                </a:tc>
                <a:extLst>
                  <a:ext uri="{0D108BD9-81ED-4DB2-BD59-A6C34878D82A}">
                    <a16:rowId xmlns:a16="http://schemas.microsoft.com/office/drawing/2014/main" val="3077023969"/>
                  </a:ext>
                </a:extLst>
              </a:tr>
              <a:tr h="83988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Spatial CNN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RGB only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None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~530K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Single-domain baseline</a:t>
                      </a:r>
                    </a:p>
                  </a:txBody>
                  <a:tcPr marL="0" marR="0" marT="25669" marB="25669" anchor="b"/>
                </a:tc>
                <a:extLst>
                  <a:ext uri="{0D108BD9-81ED-4DB2-BD59-A6C34878D82A}">
                    <a16:rowId xmlns:a16="http://schemas.microsoft.com/office/drawing/2014/main" val="3708154287"/>
                  </a:ext>
                </a:extLst>
              </a:tr>
              <a:tr h="83988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Frequency CNN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FFT only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None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~530K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Single-domain baseline</a:t>
                      </a:r>
                    </a:p>
                  </a:txBody>
                  <a:tcPr marL="0" marR="0" marT="25669" marB="25669" anchor="b"/>
                </a:tc>
                <a:extLst>
                  <a:ext uri="{0D108BD9-81ED-4DB2-BD59-A6C34878D82A}">
                    <a16:rowId xmlns:a16="http://schemas.microsoft.com/office/drawing/2014/main" val="3031497909"/>
                  </a:ext>
                </a:extLst>
              </a:tr>
              <a:tr h="83988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Fusion (concat)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RGB + FFT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Concat → MLP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~560K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Naive dual-domain</a:t>
                      </a:r>
                    </a:p>
                  </a:txBody>
                  <a:tcPr marL="0" marR="0" marT="25669" marB="25669" anchor="b"/>
                </a:tc>
                <a:extLst>
                  <a:ext uri="{0D108BD9-81ED-4DB2-BD59-A6C34878D82A}">
                    <a16:rowId xmlns:a16="http://schemas.microsoft.com/office/drawing/2014/main" val="800002448"/>
                  </a:ext>
                </a:extLst>
              </a:tr>
              <a:tr h="83988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Attention Fusion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RGB + FFT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Softmax gate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~2.1M</a:t>
                      </a:r>
                    </a:p>
                  </a:txBody>
                  <a:tcPr marL="38503" marR="38503" marT="25669" marB="2566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400">
                          <a:effectLst/>
                        </a:rPr>
                        <a:t>Learned per-sample weighting</a:t>
                      </a:r>
                    </a:p>
                  </a:txBody>
                  <a:tcPr marL="0" marR="0" marT="25669" marB="25669" anchor="b"/>
                </a:tc>
                <a:extLst>
                  <a:ext uri="{0D108BD9-81ED-4DB2-BD59-A6C34878D82A}">
                    <a16:rowId xmlns:a16="http://schemas.microsoft.com/office/drawing/2014/main" val="3448690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158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78C4F-5DE4-89EC-789A-586BCFB17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813"/>
            <a:ext cx="5179237" cy="15737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>
                <a:solidFill>
                  <a:schemeClr val="tx2"/>
                </a:solidFill>
              </a:rPr>
              <a:t>Dataset: FaceForensics++ Subset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28B55A-8D9B-31B9-55ED-662E0339E529}"/>
              </a:ext>
            </a:extLst>
          </p:cNvPr>
          <p:cNvSpPr txBox="1"/>
          <p:nvPr/>
        </p:nvSpPr>
        <p:spPr>
          <a:xfrm>
            <a:off x="6174565" y="559814"/>
            <a:ext cx="5146081" cy="1573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2"/>
                </a:solidFill>
              </a:rPr>
              <a:t>FaceForensics</a:t>
            </a:r>
            <a:r>
              <a:rPr lang="en-US" sz="1100" dirty="0">
                <a:solidFill>
                  <a:schemeClr val="tx2"/>
                </a:solidFill>
              </a:rPr>
              <a:t>++ (C23 compressed, H.264), hosted on Hugging Face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Original (real) + 6 manipulation methods (</a:t>
            </a:r>
            <a:r>
              <a:rPr lang="en-US" sz="1100" dirty="0" err="1">
                <a:solidFill>
                  <a:schemeClr val="tx2"/>
                </a:solidFill>
              </a:rPr>
              <a:t>DeepFakeDetection</a:t>
            </a:r>
            <a:r>
              <a:rPr lang="en-US" sz="1100" dirty="0">
                <a:solidFill>
                  <a:schemeClr val="tx2"/>
                </a:solidFill>
              </a:rPr>
              <a:t>, Deepfakes, Face2Face, </a:t>
            </a:r>
            <a:r>
              <a:rPr lang="en-US" sz="1100" dirty="0" err="1">
                <a:solidFill>
                  <a:schemeClr val="tx2"/>
                </a:solidFill>
              </a:rPr>
              <a:t>FaceShifter</a:t>
            </a:r>
            <a:r>
              <a:rPr lang="en-US" sz="1100" dirty="0">
                <a:solidFill>
                  <a:schemeClr val="tx2"/>
                </a:solidFill>
              </a:rPr>
              <a:t>, </a:t>
            </a:r>
            <a:r>
              <a:rPr lang="en-US" sz="1100" dirty="0" err="1">
                <a:solidFill>
                  <a:schemeClr val="tx2"/>
                </a:solidFill>
              </a:rPr>
              <a:t>FaceSwap</a:t>
            </a:r>
            <a:r>
              <a:rPr lang="en-US" sz="1100" dirty="0">
                <a:solidFill>
                  <a:schemeClr val="tx2"/>
                </a:solidFill>
              </a:rPr>
              <a:t>, </a:t>
            </a:r>
            <a:r>
              <a:rPr lang="en-US" sz="1100" dirty="0" err="1">
                <a:solidFill>
                  <a:schemeClr val="tx2"/>
                </a:solidFill>
              </a:rPr>
              <a:t>NeuralTextures</a:t>
            </a:r>
            <a:r>
              <a:rPr lang="en-US" sz="1100" dirty="0">
                <a:solidFill>
                  <a:schemeClr val="tx2"/>
                </a:solidFill>
              </a:rPr>
              <a:t>)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Two experiment tracks: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  Video subset: middle frame per video (~132 total, imbalanced 1:3.4 </a:t>
            </a:r>
            <a:r>
              <a:rPr lang="en-US" sz="1100" dirty="0" err="1">
                <a:solidFill>
                  <a:schemeClr val="tx2"/>
                </a:solidFill>
              </a:rPr>
              <a:t>real:fake</a:t>
            </a:r>
            <a:r>
              <a:rPr lang="en-US" sz="1100" dirty="0">
                <a:solidFill>
                  <a:schemeClr val="tx2"/>
                </a:solidFill>
              </a:rPr>
              <a:t>)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  Image split: 2000 REAL + 2000 FAKE per train/test (perfectly balanced)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390E0EC-2D76-4D83-A9EE-B610858BB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97779"/>
            <a:ext cx="12192000" cy="416022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903544-48D2-4493-9093-E4648C9DE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7" y="2683887"/>
            <a:ext cx="12191999" cy="4174113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5EBC2E-898D-4E44-D541-908AAC818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52" y="3124200"/>
            <a:ext cx="4765858" cy="31812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B70C20-336D-72DB-9BBB-143C7B5E20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768" y="3871779"/>
            <a:ext cx="5070832" cy="168605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E8A157D-4FCF-036F-1B79-CA12105FCF8C}"/>
              </a:ext>
            </a:extLst>
          </p:cNvPr>
          <p:cNvSpPr txBox="1"/>
          <p:nvPr/>
        </p:nvSpPr>
        <p:spPr>
          <a:xfrm>
            <a:off x="838200" y="2925068"/>
            <a:ext cx="4633486" cy="2307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320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77A1506-94CB-4191-889E-057D0335B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C02170-EA3D-4B1A-AAFC-5AAA49F03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D348DF-090B-46AF-BC6C-9D46943B0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0"/>
            <a:ext cx="12191999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145294-D52E-492B-AA66-5133BAD83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457" y="739600"/>
            <a:ext cx="10768226" cy="53909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1FB881-6F22-35DA-DADE-AF61ED9F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43000"/>
            <a:ext cx="4648200" cy="214947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Video Subset: Ablation Study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0327EF-44D0-C936-10C8-E69BF55D7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405" y="1390166"/>
            <a:ext cx="2405745" cy="180430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E9EE2-3C0C-C306-368B-C71A2DE78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80" y="3429000"/>
            <a:ext cx="4647901" cy="2286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chemeClr val="tx2"/>
                </a:solidFill>
              </a:rPr>
              <a:t>Tested imbalance impact: max_fake_per_csv = 8 vs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chemeClr val="tx2"/>
                </a:solidFill>
              </a:rPr>
              <a:t>With 8 fake per CSV (68 fake, 20 real): 3.4:1 ratio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chemeClr val="tx2"/>
                </a:solidFill>
              </a:rPr>
              <a:t>  - Both models predict ALL samples as Fake → 88.2% acc, 100% recall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chemeClr val="tx2"/>
                </a:solidFill>
              </a:rPr>
              <a:t>  - Precision = accuracy → degenerate solution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chemeClr val="tx2"/>
                </a:solidFill>
              </a:rPr>
              <a:t>With 3 fake per CSV (38 fake, 20 real): 1.9:1 ratio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chemeClr val="tx2"/>
                </a:solidFill>
              </a:rPr>
              <a:t>  - Spatial: 66.7% acc, F1=0.769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chemeClr val="tx2"/>
                </a:solidFill>
              </a:rPr>
              <a:t> - Frequency: 44.4% acc, F1=0.615 — below random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chemeClr val="tx2"/>
                </a:solidFill>
              </a:rPr>
              <a:t>Key insight: balanced datasets are essential for meaningful architecture comparison</a:t>
            </a:r>
          </a:p>
          <a:p>
            <a:pPr marL="0" indent="0">
              <a:lnSpc>
                <a:spcPct val="100000"/>
              </a:lnSpc>
              <a:buNone/>
            </a:pPr>
            <a:endParaRPr lang="en-US" sz="900">
              <a:solidFill>
                <a:schemeClr val="tx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B6E389-A7F1-EC36-6E8E-96A19D6B9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447" y="1395829"/>
            <a:ext cx="2405745" cy="1804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2FFCF8-470C-33C9-E936-81D91A88A3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447" y="3588160"/>
            <a:ext cx="2405745" cy="21411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70BCEF-9CF0-2865-F95D-E4ADEF97A6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405" y="3586646"/>
            <a:ext cx="2405745" cy="214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23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B3CCD-5A67-3145-54BC-AF17397E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166457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Main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67FEF-55FF-0213-F8BD-5438520BE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4952681" cy="3728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Attention fusion beats spatial by +7.4% accuracy, +10.8 F1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Attention fusion beats naive concat by +19.2% accuracy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Frequency near random (hypothesis: C23 compression masks FFT artifacts)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Naive concat hurts performance vs spatial alone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248080" y="-1"/>
            <a:ext cx="5943919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6E7AFA-920B-D57D-D9FB-7DDA79F76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1" y="629030"/>
            <a:ext cx="4724400" cy="25275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48F657-96E8-A5CC-A599-560CF6649D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1" y="3792823"/>
            <a:ext cx="4724400" cy="197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7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591AA4-106C-4EB4-8352-EEB6C4491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1"/>
            <a:ext cx="12191999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F0842D-03BF-4DC0-8DC1-10183EB6A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457" y="739600"/>
            <a:ext cx="10768226" cy="53909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EB0DB-40B6-CB00-FC4D-6493CBF2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66800"/>
            <a:ext cx="5334000" cy="19970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tx2"/>
                </a:solidFill>
              </a:rPr>
              <a:t>Confusion Matrix: Spatial vs Frequency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9996B3-C1E2-A625-6D2B-BC68CDE23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342" y="1066800"/>
            <a:ext cx="2568539" cy="22860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BD9981-34F8-F079-A601-AB9EB31CFC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342" y="3434551"/>
            <a:ext cx="2568539" cy="228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6FDE25-2EC1-8346-7E34-BB180B7EB1EF}"/>
              </a:ext>
            </a:extLst>
          </p:cNvPr>
          <p:cNvSpPr txBox="1"/>
          <p:nvPr/>
        </p:nvSpPr>
        <p:spPr>
          <a:xfrm>
            <a:off x="5638800" y="3200400"/>
            <a:ext cx="5334000" cy="259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1300" dirty="0">
                <a:solidFill>
                  <a:schemeClr val="tx2"/>
                </a:solidFill>
              </a:rPr>
              <a:t>Spatial CNN (80.7% acc on image, 88.2% on video):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1300" dirty="0">
                <a:solidFill>
                  <a:schemeClr val="tx2"/>
                </a:solidFill>
              </a:rPr>
              <a:t>   - On image data: 1886/2000 real correct, 658 fakes missed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1300" dirty="0">
                <a:solidFill>
                  <a:schemeClr val="tx2"/>
                </a:solidFill>
              </a:rPr>
              <a:t>   - High precision (92%) means: when it says Fake, it's almost always right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1300" dirty="0">
                <a:solidFill>
                  <a:schemeClr val="tx2"/>
                </a:solidFill>
              </a:rPr>
              <a:t>   - Low recall (67%) means: it misses 1 in 3 fakes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1300" dirty="0">
                <a:solidFill>
                  <a:schemeClr val="tx2"/>
                </a:solidFill>
              </a:rPr>
              <a:t>Frequency FFT-CNN (46.5% on image):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1300" dirty="0">
                <a:solidFill>
                  <a:schemeClr val="tx2"/>
                </a:solidFill>
              </a:rPr>
              <a:t>Near random performance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1300" dirty="0">
                <a:solidFill>
                  <a:schemeClr val="tx2"/>
                </a:solidFill>
              </a:rPr>
              <a:t>Confusion matrix shows balanced errors on image data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r>
              <a:rPr lang="en-US" sz="1300" dirty="0">
                <a:solidFill>
                  <a:schemeClr val="tx2"/>
                </a:solidFill>
              </a:rPr>
              <a:t>On video with imbalance: degenerate all-fake prediction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299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0FEC6-A90A-E35D-8638-38F39EF16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06" y="59157"/>
            <a:ext cx="11355388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Confusion Matrix: Spatial vs Attention Fusion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97598-1D8F-AC40-A65A-ACC9CC7C2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0623" y="4232223"/>
            <a:ext cx="5157787" cy="35226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Spatial CNN</a:t>
            </a:r>
            <a:r>
              <a:rPr lang="en-US" dirty="0"/>
              <a:t>(80.7% acc)</a:t>
            </a:r>
          </a:p>
          <a:p>
            <a:r>
              <a:rPr lang="en-US" dirty="0"/>
              <a:t>  True Real -&gt; Pred Real: 1,886 | True Real -&gt; Pred Fake: 114</a:t>
            </a:r>
          </a:p>
          <a:p>
            <a:r>
              <a:rPr lang="en-US" dirty="0"/>
              <a:t>  True Fake -&gt; Pred Real: 658 | True Fake -&gt; Pred Fake: 1,342</a:t>
            </a:r>
          </a:p>
          <a:p>
            <a:r>
              <a:rPr lang="en-US" dirty="0"/>
              <a:t>  Conservative: misses 658 fakes (33% miss rate)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7BD835-C855-0C29-80D6-549737ED45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8410" y="4080934"/>
            <a:ext cx="6512967" cy="3188544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Attention Fusion</a:t>
            </a:r>
            <a:r>
              <a:rPr lang="en-US" dirty="0"/>
              <a:t> (88.1% acc)</a:t>
            </a:r>
          </a:p>
          <a:p>
            <a:r>
              <a:rPr lang="en-US" dirty="0"/>
              <a:t>  True Real -&gt; Pred Real: 1,703 | True Real -&gt; Pred Fake: 297</a:t>
            </a:r>
          </a:p>
          <a:p>
            <a:r>
              <a:rPr lang="en-US" dirty="0"/>
              <a:t>  True Fake -&gt; Pred Real: 178 | True Fake -&gt; Pred Fake: 1,822</a:t>
            </a:r>
          </a:p>
          <a:p>
            <a:r>
              <a:rPr lang="en-US" dirty="0"/>
              <a:t>  Catches 480 MORE fakes than spatial</a:t>
            </a:r>
          </a:p>
          <a:p>
            <a:r>
              <a:rPr lang="en-US" dirty="0"/>
              <a:t>  Only 178 false negatives vs 658 — 73% reduction</a:t>
            </a:r>
          </a:p>
          <a:p>
            <a:r>
              <a:rPr lang="en-US" dirty="0"/>
              <a:t>  Tradeoff: 183 more false positives (acceptable in forensics)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B4E5F1-F623-173F-C190-69EC78351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703" y="1384720"/>
            <a:ext cx="2885126" cy="25645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CE12A5-CDAB-F4E7-06A6-9E30C9593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1" y="1384721"/>
            <a:ext cx="2885125" cy="25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68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8" y="0"/>
            <a:ext cx="12191999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C6D970-C4DA-DC5E-0600-A4E174372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5181600" cy="2743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Training Loss Curves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A8EF88-D3C2-416B-8DE4-CF72F260697D}"/>
              </a:ext>
            </a:extLst>
          </p:cNvPr>
          <p:cNvSpPr txBox="1"/>
          <p:nvPr/>
        </p:nvSpPr>
        <p:spPr>
          <a:xfrm>
            <a:off x="4413922" y="1210733"/>
            <a:ext cx="7518400" cy="274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>
                    <a:alpha val="80000"/>
                  </a:schemeClr>
                </a:solidFill>
              </a:rPr>
              <a:t>Spatial CNN: validation loss bottoms at epoch 3, climbs — classic overfitting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>
                    <a:alpha val="80000"/>
                  </a:schemeClr>
                </a:solidFill>
              </a:rPr>
              <a:t>Fusion (</a:t>
            </a:r>
            <a:r>
              <a:rPr lang="en-US" sz="1500" dirty="0" err="1">
                <a:solidFill>
                  <a:schemeClr val="bg1">
                    <a:alpha val="80000"/>
                  </a:schemeClr>
                </a:solidFill>
              </a:rPr>
              <a:t>concat</a:t>
            </a:r>
            <a:r>
              <a:rPr lang="en-US" sz="1500" dirty="0">
                <a:solidFill>
                  <a:schemeClr val="bg1">
                    <a:alpha val="80000"/>
                  </a:schemeClr>
                </a:solidFill>
              </a:rPr>
              <a:t>): slow convergence, final </a:t>
            </a:r>
            <a:r>
              <a:rPr lang="en-US" sz="1500" dirty="0" err="1">
                <a:solidFill>
                  <a:schemeClr val="bg1">
                    <a:alpha val="80000"/>
                  </a:schemeClr>
                </a:solidFill>
              </a:rPr>
              <a:t>val</a:t>
            </a:r>
            <a:r>
              <a:rPr lang="en-US" sz="1500" dirty="0">
                <a:solidFill>
                  <a:schemeClr val="bg1">
                    <a:alpha val="80000"/>
                  </a:schemeClr>
                </a:solidFill>
              </a:rPr>
              <a:t> loss 0.57 — noisy features dilute signal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>
                    <a:alpha val="80000"/>
                  </a:schemeClr>
                </a:solidFill>
              </a:rPr>
              <a:t>Attention Fusion: smooth, stable convergence to 0.28 — best generalization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>
                    <a:alpha val="80000"/>
                  </a:schemeClr>
                </a:solidFill>
              </a:rPr>
              <a:t>The frequency branch acts as a </a:t>
            </a:r>
            <a:r>
              <a:rPr lang="en-US" sz="1500" dirty="0" err="1">
                <a:solidFill>
                  <a:schemeClr val="bg1">
                    <a:alpha val="80000"/>
                  </a:schemeClr>
                </a:solidFill>
              </a:rPr>
              <a:t>regularizer</a:t>
            </a:r>
            <a:r>
              <a:rPr lang="en-US" sz="1500" dirty="0">
                <a:solidFill>
                  <a:schemeClr val="bg1">
                    <a:alpha val="80000"/>
                  </a:schemeClr>
                </a:solidFill>
              </a:rPr>
              <a:t> when combined through attention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>
                    <a:alpha val="80000"/>
                  </a:schemeClr>
                </a:solidFill>
              </a:rPr>
              <a:t>Without the gate, the noisy frequency features hurt; with the gate, they help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6A7922-CFAC-A3BF-674D-564AE8C87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35" y="3626539"/>
            <a:ext cx="3503568" cy="2627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03DCF4-1154-0CFE-03F7-399D228A5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517" y="3629743"/>
            <a:ext cx="3512965" cy="263472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96C100-6AE6-6DEF-970F-6BC8E30A3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700" y="3627582"/>
            <a:ext cx="3504484" cy="262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30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EAB8C-BA43-28F4-D40A-24B918C6B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166457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Grad-CAM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C6145-D76B-1749-4838-E8629883C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4952681" cy="37286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Grad-CAM over the attention model's final spatial conv layer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Three consistent attention regions: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2"/>
                </a:solidFill>
              </a:rPr>
              <a:t>  </a:t>
            </a:r>
            <a:r>
              <a:rPr lang="en-US" sz="1400" b="1" dirty="0">
                <a:solidFill>
                  <a:schemeClr val="tx2"/>
                </a:solidFill>
              </a:rPr>
              <a:t>Facial boundaries</a:t>
            </a:r>
            <a:r>
              <a:rPr lang="en-US" sz="1400" dirty="0">
                <a:solidFill>
                  <a:schemeClr val="tx2"/>
                </a:solidFill>
              </a:rPr>
              <a:t>: blending artifacts from face-swapping pipelines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2"/>
                </a:solidFill>
              </a:rPr>
              <a:t>  </a:t>
            </a:r>
            <a:r>
              <a:rPr lang="en-US" sz="1400" b="1" dirty="0">
                <a:solidFill>
                  <a:schemeClr val="tx2"/>
                </a:solidFill>
              </a:rPr>
              <a:t>Eye &amp; mouth regions</a:t>
            </a:r>
            <a:r>
              <a:rPr lang="en-US" sz="1400" dirty="0">
                <a:solidFill>
                  <a:schemeClr val="tx2"/>
                </a:solidFill>
              </a:rPr>
              <a:t>: morphological inconsistencies (asymmetrical pupils, unnatural teeth)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tx2"/>
                </a:solidFill>
              </a:rPr>
              <a:t>  </a:t>
            </a:r>
            <a:r>
              <a:rPr lang="en-US" sz="1400" b="1" dirty="0">
                <a:solidFill>
                  <a:schemeClr val="tx2"/>
                </a:solidFill>
              </a:rPr>
              <a:t>Hair &amp; clothing edges</a:t>
            </a:r>
            <a:r>
              <a:rPr lang="en-US" sz="1400" dirty="0">
                <a:solidFill>
                  <a:schemeClr val="tx2"/>
                </a:solidFill>
              </a:rPr>
              <a:t>: high-frequency texture patches, GAN checkerboard patterns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Heatmaps align with known synthesis artifacts from literature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Evidence the model learned genuine forgery cues, not correlations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0666" y="0"/>
            <a:ext cx="600133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196875" y="0"/>
            <a:ext cx="5992075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34BCE7-EBFB-8C4B-7C15-E57EE0870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1" y="2640941"/>
            <a:ext cx="4724400" cy="157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259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FDD5-5AF1-1E8E-E48C-13D05C6E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Grad-CAM: Individual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98568-0135-AE6F-1A37-B688B24A2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318" y="4459898"/>
            <a:ext cx="1914482" cy="19144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8ACE07-85A9-286F-5488-D8A9DAB03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137" y="2118369"/>
            <a:ext cx="1914483" cy="19144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4F7EAD-86BA-2183-1EFF-7D91EC223F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381" y="2118370"/>
            <a:ext cx="1914481" cy="1914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0D4F17-8EEB-EE3D-AD69-7C16CC2706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798" y="4459898"/>
            <a:ext cx="1914482" cy="19144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2690E4-8B36-B881-CBA1-98F86C292C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54" y="4385907"/>
            <a:ext cx="1914483" cy="191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306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B7DD83-8C23-4292-86EE-35D1060B0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790C9A-0991-401B-895E-E99FA71CB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0"/>
            <a:ext cx="12188952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xy" algn="t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5B333-AC88-3E53-75B0-3D5156198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6066"/>
            <a:ext cx="4795282" cy="5018227"/>
          </a:xfrm>
        </p:spPr>
        <p:txBody>
          <a:bodyPr anchor="ctr">
            <a:normAutofit/>
          </a:bodyPr>
          <a:lstStyle/>
          <a:p>
            <a:r>
              <a:rPr lang="en-US" dirty="0"/>
              <a:t>Key Insights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D672DD-5F68-9147-6D4F-8362E7A5D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2" y="726538"/>
            <a:ext cx="4977905" cy="501707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/>
              <a:t>Attention gating is essential</a:t>
            </a:r>
            <a:r>
              <a:rPr lang="en-US" sz="1500"/>
              <a:t>, not optional</a:t>
            </a:r>
          </a:p>
          <a:p>
            <a:pPr>
              <a:lnSpc>
                <a:spcPct val="100000"/>
              </a:lnSpc>
            </a:pPr>
            <a:r>
              <a:rPr lang="en-US" sz="1500"/>
              <a:t>Naive concat fusion (68.9%) &lt; spatial alone (80.7%)</a:t>
            </a:r>
          </a:p>
          <a:p>
            <a:pPr>
              <a:lnSpc>
                <a:spcPct val="100000"/>
              </a:lnSpc>
            </a:pPr>
            <a:r>
              <a:rPr lang="en-US" sz="1500"/>
              <a:t>Attention fusion (88.1%) &gt; spatial alone (80.7%)</a:t>
            </a:r>
          </a:p>
          <a:p>
            <a:pPr>
              <a:lnSpc>
                <a:spcPct val="100000"/>
              </a:lnSpc>
            </a:pPr>
            <a:r>
              <a:rPr lang="en-US" sz="1500"/>
              <a:t>Without a gate, adding the frequency domain hurts performance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b="1"/>
              <a:t>FFT-only detection fails on compressed media</a:t>
            </a:r>
            <a:endParaRPr lang="en-US" sz="1500"/>
          </a:p>
          <a:p>
            <a:pPr>
              <a:lnSpc>
                <a:spcPct val="100000"/>
              </a:lnSpc>
            </a:pPr>
            <a:r>
              <a:rPr lang="en-US" sz="1500"/>
              <a:t>C23 compression masks spectral artifacts</a:t>
            </a:r>
          </a:p>
          <a:p>
            <a:pPr>
              <a:lnSpc>
                <a:spcPct val="100000"/>
              </a:lnSpc>
            </a:pPr>
            <a:r>
              <a:rPr lang="en-US" sz="1500"/>
              <a:t>Important practical insight for real-world deployment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b="1"/>
              <a:t>Explainability works and aligns with forensic knowledge</a:t>
            </a:r>
            <a:endParaRPr lang="en-US" sz="1500"/>
          </a:p>
          <a:p>
            <a:pPr>
              <a:lnSpc>
                <a:spcPct val="100000"/>
              </a:lnSpc>
            </a:pPr>
            <a:r>
              <a:rPr lang="en-US" sz="1500"/>
              <a:t>Grad-CAM heatmaps highlight meaningful regions</a:t>
            </a:r>
          </a:p>
          <a:p>
            <a:pPr>
              <a:lnSpc>
                <a:spcPct val="100000"/>
              </a:lnSpc>
            </a:pPr>
            <a:r>
              <a:rPr lang="en-US" sz="1500"/>
              <a:t>Bridges the gap between prediction and trust</a:t>
            </a:r>
          </a:p>
          <a:p>
            <a:pPr>
              <a:lnSpc>
                <a:spcPct val="10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184644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837D92-5CDC-5855-EA8E-F3143216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Unexpected Findings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AAB0FE-C742-E201-DFF0-9AD727EFEC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909710"/>
              </p:ext>
            </p:extLst>
          </p:nvPr>
        </p:nvGraphicFramePr>
        <p:xfrm>
          <a:off x="1197268" y="1843284"/>
          <a:ext cx="10156531" cy="433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56516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6152-BBF4-6C31-405B-F9E29DCD2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6AD0-F3C9-34F6-6FB1-E1C235C7E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Bottom line:</a:t>
            </a:r>
            <a:endParaRPr lang="en-US" dirty="0"/>
          </a:p>
          <a:p>
            <a:r>
              <a:rPr lang="en-US" dirty="0"/>
              <a:t>Learned attention weighting between spatial and frequency domains</a:t>
            </a:r>
          </a:p>
          <a:p>
            <a:r>
              <a:rPr lang="en-US" dirty="0"/>
              <a:t>Consistently outperforms single-domain and naive fusion approaches</a:t>
            </a:r>
          </a:p>
          <a:p>
            <a:r>
              <a:rPr lang="en-US" dirty="0"/>
              <a:t>Built-in explainability through Grad-CAM</a:t>
            </a:r>
          </a:p>
          <a:p>
            <a:pPr marL="0" indent="0">
              <a:buNone/>
            </a:pPr>
            <a:r>
              <a:rPr lang="en-US" b="1" dirty="0"/>
              <a:t>Immediate next steps:</a:t>
            </a:r>
          </a:p>
          <a:p>
            <a:r>
              <a:rPr lang="en-US" dirty="0"/>
              <a:t>Cross-generator evaluation (train FF++ → test on diffusion models)</a:t>
            </a:r>
          </a:p>
          <a:p>
            <a:r>
              <a:rPr lang="en-US" dirty="0"/>
              <a:t>Multi-frame fusion using 3D CNNs or LSTMs</a:t>
            </a:r>
          </a:p>
          <a:p>
            <a:r>
              <a:rPr lang="en-US" dirty="0"/>
              <a:t>Robustness testing: JPEG compression, resizing, adversarial attacks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523115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Custom 69">
      <a:dk1>
        <a:sysClr val="windowText" lastClr="000000"/>
      </a:dk1>
      <a:lt1>
        <a:sysClr val="window" lastClr="FFFFFF"/>
      </a:lt1>
      <a:dk2>
        <a:srgbClr val="44131A"/>
      </a:dk2>
      <a:lt2>
        <a:srgbClr val="F2ECEA"/>
      </a:lt2>
      <a:accent1>
        <a:srgbClr val="A62C52"/>
      </a:accent1>
      <a:accent2>
        <a:srgbClr val="A7928D"/>
      </a:accent2>
      <a:accent3>
        <a:srgbClr val="307C71"/>
      </a:accent3>
      <a:accent4>
        <a:srgbClr val="41575D"/>
      </a:accent4>
      <a:accent5>
        <a:srgbClr val="8FA3A3"/>
      </a:accent5>
      <a:accent6>
        <a:srgbClr val="CA8370"/>
      </a:accent6>
      <a:hlink>
        <a:srgbClr val="D13D6E"/>
      </a:hlink>
      <a:folHlink>
        <a:srgbClr val="6C9D92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1248</Words>
  <Application>Microsoft Office PowerPoint</Application>
  <PresentationFormat>Widescreen</PresentationFormat>
  <Paragraphs>160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Avenir Next LT Pro</vt:lpstr>
      <vt:lpstr>AvenirNext LT Pro Medium</vt:lpstr>
      <vt:lpstr>BlockprintVTI</vt:lpstr>
      <vt:lpstr>Universal Synthetic Image Detection</vt:lpstr>
      <vt:lpstr>Generative AI is Everywhere</vt:lpstr>
      <vt:lpstr>Three Critical Gaps in Current Detectors</vt:lpstr>
      <vt:lpstr>Solution: Multi-Domain Fusion</vt:lpstr>
      <vt:lpstr>What the Frequency Domain Reveals </vt:lpstr>
      <vt:lpstr>Data Flow</vt:lpstr>
      <vt:lpstr>Four Model Variants Compared</vt:lpstr>
      <vt:lpstr>Dataset: FaceForensics++ Subset</vt:lpstr>
      <vt:lpstr>Video Subset: Ablation Study</vt:lpstr>
      <vt:lpstr>Main Results</vt:lpstr>
      <vt:lpstr>Confusion Matrix: Spatial vs Frequency</vt:lpstr>
      <vt:lpstr>Confusion Matrix: Spatial vs Attention Fusion</vt:lpstr>
      <vt:lpstr>Training Loss Curves</vt:lpstr>
      <vt:lpstr>Grad-CAM</vt:lpstr>
      <vt:lpstr>Grad-CAM: Individual Examples</vt:lpstr>
      <vt:lpstr>Key Insights</vt:lpstr>
      <vt:lpstr>Unexpected Findings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Agarwal, Eshan</dc:creator>
  <cp:lastModifiedBy>Agarwal, Eshan</cp:lastModifiedBy>
  <cp:revision>1</cp:revision>
  <dcterms:created xsi:type="dcterms:W3CDTF">2026-04-26T02:18:19Z</dcterms:created>
  <dcterms:modified xsi:type="dcterms:W3CDTF">2026-04-26T04:33:52Z</dcterms:modified>
</cp:coreProperties>
</file>